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Pembuka. Aplikasi ini membantu tim sales menemukan calon pelanggan baru di sekitar outlet yang sudah ada, dan membantu tim lain memahami cara kerjanya.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masalah yang diselesaikan: pencarian tidak seragam, tidak ada prioritas, dan risiko menghubungi orang yang sama dua kali.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Satu kalimat: temukan, nilai, hubungi. Tiga langkah ini yang dibahas di slide berikutnya.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Alur satu hari. Pencarian dilakukan sistem pada malam hari, jadi pagi hari data sudah siap dipakai.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Peta menampilkan semua outlet dan calon pelanggan. Perbesar peta untuk melihat jalan dan nama tempat. Data pada gambar adalah data contoh.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Klik titik di peta untuk membuka kartu. Bagian bawah kartu berisi tombol WhatsApp, catatan, dan riwayat aktivitas.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Skor adalah gabungan enam hal. Rincian lengkap selalu terlihat di kartu prospek, jadi skor bisa dipahami dan tidak seperti kotak hitam.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Aturan kontak membuat tim tidak mengganggu calon pelanggan. Jeda 14 hari dan peringatan 7 hari adalah pengaturan awal dan bisa diubah admin di halaman Master, Pengaturan.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Menu Pipeline menampilkan lima tahap. Ada tampilan Kanban (seret kartu) dan tampilan tabel. Contoh nama pada gambar hanyalah ilustrasi.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Halaman Laporan cocok untuk yang lebih suka melihat tabel daripada peta. Tombol Unduh Excel menghasilkan berkas .xlsx.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Fitur rute memudahkan sales yang berkunjung langsung. Rute dibuka di Google Maps tanpa perlu kunci khusus.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 untuk HR: akun individual dan jejak aktivitas, serta aturan etika kontak. Perlu diketahui bahwa saat ini hanya ada satu peran, jadi semua akun punya akses yang sama.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yang paling sering muncul dari pengguna baru.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Penutup dengan empat langkah mulai. Akun dibuat oleh 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Merchant Hunter  ·  Panduan pengguna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9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49377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6858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9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ring-1"/>
          <p:cNvSpPr/>
          <p:nvPr/>
        </p:nvSpPr>
        <p:spPr>
          <a:xfrm>
            <a:off x="6766560" y="1737360"/>
            <a:ext cx="1280160" cy="1280160"/>
          </a:xfrm>
          <a:prstGeom prst="ellipse">
            <a:avLst/>
          </a:prstGeom>
          <a:ln w="15875">
            <a:solidFill>
              <a:srgbClr val="0E8F7E">
                <a:alpha val="80000"/>
              </a:srgbClr>
            </a:solidFill>
            <a:prstDash val="solid"/>
          </a:ln>
        </p:spPr>
      </p:sp>
      <p:sp>
        <p:nvSpPr>
          <p:cNvPr id="3" name="cover-ring-2"/>
          <p:cNvSpPr/>
          <p:nvPr/>
        </p:nvSpPr>
        <p:spPr>
          <a:xfrm>
            <a:off x="6172200" y="1143000"/>
            <a:ext cx="2468880" cy="2468880"/>
          </a:xfrm>
          <a:prstGeom prst="ellipse">
            <a:avLst/>
          </a:prstGeom>
          <a:ln w="15875">
            <a:solidFill>
              <a:srgbClr val="0E8F7E">
                <a:alpha val="68000"/>
              </a:srgbClr>
            </a:solidFill>
            <a:prstDash val="solid"/>
          </a:ln>
        </p:spPr>
      </p:sp>
      <p:sp>
        <p:nvSpPr>
          <p:cNvPr id="4" name="cover-ring-3"/>
          <p:cNvSpPr/>
          <p:nvPr/>
        </p:nvSpPr>
        <p:spPr>
          <a:xfrm>
            <a:off x="5577840" y="548640"/>
            <a:ext cx="3657600" cy="3657600"/>
          </a:xfrm>
          <a:prstGeom prst="ellipse">
            <a:avLst/>
          </a:prstGeom>
          <a:ln w="15875">
            <a:solidFill>
              <a:srgbClr val="0E8F7E">
                <a:alpha val="56000"/>
              </a:srgbClr>
            </a:solidFill>
            <a:prstDash val="solid"/>
          </a:ln>
        </p:spPr>
      </p:sp>
      <p:sp>
        <p:nvSpPr>
          <p:cNvPr id="5" name="cover-ring-4"/>
          <p:cNvSpPr/>
          <p:nvPr/>
        </p:nvSpPr>
        <p:spPr>
          <a:xfrm>
            <a:off x="4983480" y="-45720"/>
            <a:ext cx="4846320" cy="4846320"/>
          </a:xfrm>
          <a:prstGeom prst="ellipse">
            <a:avLst/>
          </a:prstGeom>
          <a:ln w="15875">
            <a:solidFill>
              <a:srgbClr val="0E8F7E">
                <a:alpha val="44000"/>
              </a:srgbClr>
            </a:solidFill>
            <a:prstDash val="solid"/>
          </a:ln>
        </p:spPr>
      </p:sp>
      <p:sp>
        <p:nvSpPr>
          <p:cNvPr id="6" name="cover-ring-5"/>
          <p:cNvSpPr/>
          <p:nvPr/>
        </p:nvSpPr>
        <p:spPr>
          <a:xfrm>
            <a:off x="4389120" y="-640080"/>
            <a:ext cx="6035040" cy="6035040"/>
          </a:xfrm>
          <a:prstGeom prst="ellipse">
            <a:avLst/>
          </a:prstGeom>
          <a:ln w="15875">
            <a:solidFill>
              <a:srgbClr val="0E8F7E">
                <a:alpha val="32000"/>
              </a:srgbClr>
            </a:solidFill>
            <a:prstDash val="solid"/>
          </a:ln>
        </p:spPr>
      </p:sp>
      <p:sp>
        <p:nvSpPr>
          <p:cNvPr id="7" name="cover-outlet"/>
          <p:cNvSpPr/>
          <p:nvPr/>
        </p:nvSpPr>
        <p:spPr>
          <a:xfrm>
            <a:off x="7232904" y="2203704"/>
            <a:ext cx="347472" cy="347472"/>
          </a:xfrm>
          <a:prstGeom prst="ellipse">
            <a:avLst/>
          </a:prstGeom>
          <a:solidFill>
            <a:srgbClr val="1F29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cover-dot-1"/>
          <p:cNvSpPr/>
          <p:nvPr/>
        </p:nvSpPr>
        <p:spPr>
          <a:xfrm>
            <a:off x="6492240" y="1188720"/>
            <a:ext cx="182880" cy="182880"/>
          </a:xfrm>
          <a:prstGeom prst="ellipse">
            <a:avLst/>
          </a:prstGeom>
          <a:solidFill>
            <a:srgbClr val="E8350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cover-dot-2"/>
          <p:cNvSpPr/>
          <p:nvPr/>
        </p:nvSpPr>
        <p:spPr>
          <a:xfrm>
            <a:off x="8138160" y="1645920"/>
            <a:ext cx="182880" cy="18288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cover-dot-3"/>
          <p:cNvSpPr/>
          <p:nvPr/>
        </p:nvSpPr>
        <p:spPr>
          <a:xfrm>
            <a:off x="6309360" y="3108960"/>
            <a:ext cx="182880" cy="182880"/>
          </a:xfrm>
          <a:prstGeom prst="ellipse">
            <a:avLst/>
          </a:prstGeom>
          <a:solidFill>
            <a:srgbClr val="0E9F8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cover-dot-4"/>
          <p:cNvSpPr/>
          <p:nvPr/>
        </p:nvSpPr>
        <p:spPr>
          <a:xfrm>
            <a:off x="8046720" y="3200400"/>
            <a:ext cx="182880" cy="182880"/>
          </a:xfrm>
          <a:prstGeom prst="ellipse">
            <a:avLst/>
          </a:prstGeom>
          <a:solidFill>
            <a:srgbClr val="E8350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cover-dot-5"/>
          <p:cNvSpPr/>
          <p:nvPr/>
        </p:nvSpPr>
        <p:spPr>
          <a:xfrm>
            <a:off x="7589520" y="594360"/>
            <a:ext cx="182880" cy="182880"/>
          </a:xfrm>
          <a:prstGeom prst="ellipse">
            <a:avLst/>
          </a:prstGeom>
          <a:solidFill>
            <a:srgbClr val="0E9F8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cover-dot-6"/>
          <p:cNvSpPr/>
          <p:nvPr/>
        </p:nvSpPr>
        <p:spPr>
          <a:xfrm>
            <a:off x="5943600" y="2148840"/>
            <a:ext cx="182880" cy="182880"/>
          </a:xfrm>
          <a:prstGeom prst="ellipse">
            <a:avLst/>
          </a:prstGeom>
          <a:solidFill>
            <a:srgbClr val="6B7F9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cover-dot-7"/>
          <p:cNvSpPr/>
          <p:nvPr/>
        </p:nvSpPr>
        <p:spPr>
          <a:xfrm>
            <a:off x="8503920" y="2377440"/>
            <a:ext cx="182880" cy="182880"/>
          </a:xfrm>
          <a:prstGeom prst="ellipse">
            <a:avLst/>
          </a:prstGeom>
          <a:solidFill>
            <a:srgbClr val="0E9F8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960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PENGGUNA</a:t>
            </a:r>
            <a:endParaRPr lang="en-US" sz="1400" dirty="0"/>
          </a:p>
        </p:txBody>
      </p:sp>
      <p:sp>
        <p:nvSpPr>
          <p:cNvPr id="16" name="Text 0"/>
          <p:cNvSpPr/>
          <p:nvPr>
            <p:ph idx="100" type="title" hasCustomPrompt="1"/>
          </p:nvPr>
        </p:nvSpPr>
        <p:spPr>
          <a:xfrm>
            <a:off x="548640" y="14173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 Merchant Hunter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1546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calon pelanggan baru dengan lebih cepat, lebih teratur, dan lebih sopan.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tim Sales dan HR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Masalah yang sering terjadi</a:t>
            </a:r>
            <a:endParaRPr lang="en-US" sz="3400" dirty="0"/>
          </a:p>
        </p:txBody>
      </p:sp>
      <p:sp>
        <p:nvSpPr>
          <p:cNvPr id="3" name="problem-card-1"/>
          <p:cNvSpPr/>
          <p:nvPr/>
        </p:nvSpPr>
        <p:spPr>
          <a:xfrm>
            <a:off x="548640" y="1371600"/>
            <a:ext cx="2560320" cy="30175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roblem-1-badge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problem-1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Cari sendiri-sendiri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880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sales mencari calon pelanggan dengan caranya sendiri, dan hasilnya tidak terkumpul di satu tempat.</a:t>
            </a:r>
            <a:endParaRPr lang="en-US" sz="1400" dirty="0"/>
          </a:p>
        </p:txBody>
      </p:sp>
      <p:sp>
        <p:nvSpPr>
          <p:cNvPr id="8" name="problem-card-2"/>
          <p:cNvSpPr/>
          <p:nvPr/>
        </p:nvSpPr>
        <p:spPr>
          <a:xfrm>
            <a:off x="3291840" y="1371600"/>
            <a:ext cx="2560320" cy="30175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roblem-2-badge"/>
          <p:cNvSpPr/>
          <p:nvPr/>
        </p:nvSpPr>
        <p:spPr>
          <a:xfrm>
            <a:off x="3520440" y="160020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problem-2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17602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Bingung prioritas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880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nilai yang menunjukkan calon mana yang paling layak dihubungi lebih dulu.</a:t>
            </a:r>
            <a:endParaRPr lang="en-US" sz="1400" dirty="0"/>
          </a:p>
        </p:txBody>
      </p:sp>
      <p:sp>
        <p:nvSpPr>
          <p:cNvPr id="13" name="problem-card-3"/>
          <p:cNvSpPr/>
          <p:nvPr/>
        </p:nvSpPr>
        <p:spPr>
          <a:xfrm>
            <a:off x="6035040" y="1371600"/>
            <a:ext cx="2560320" cy="30175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roblem-3-badge"/>
          <p:cNvSpPr/>
          <p:nvPr/>
        </p:nvSpPr>
        <p:spPr>
          <a:xfrm>
            <a:off x="6263640" y="160020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problem-3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7602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Kontak dobel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880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Rekan lain mungkin sudah menghubungi orang yang sama, dan tidak ada catatan bersama.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9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Solusinya: satu aplikasi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Aplikasi yang menemukan, menilai, lalu membantu Anda menghubungi calon pelanggan.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Semuanya ada di satu tempat, dan bisa dilihat bersama oleh tim.</a:t>
            </a:r>
            <a:endParaRPr lang="en-US" sz="1400" dirty="0"/>
          </a:p>
        </p:txBody>
      </p:sp>
      <p:sp>
        <p:nvSpPr>
          <p:cNvPr id="5" name="solution-card-1"/>
          <p:cNvSpPr/>
          <p:nvPr/>
        </p:nvSpPr>
        <p:spPr>
          <a:xfrm>
            <a:off x="4572000" y="1371600"/>
            <a:ext cx="402336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olution-num-1"/>
          <p:cNvSpPr/>
          <p:nvPr/>
        </p:nvSpPr>
        <p:spPr>
          <a:xfrm>
            <a:off x="4754880" y="155448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0" y="1554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68112" y="14813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Temukan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68112" y="17922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menunjukkan bisnis di sekitar outlet kita, paling jauh 2 km.</a:t>
            </a:r>
            <a:endParaRPr lang="en-US" sz="1400" dirty="0"/>
          </a:p>
        </p:txBody>
      </p:sp>
      <p:sp>
        <p:nvSpPr>
          <p:cNvPr id="10" name="solution-card-2"/>
          <p:cNvSpPr/>
          <p:nvPr/>
        </p:nvSpPr>
        <p:spPr>
          <a:xfrm>
            <a:off x="4572000" y="2395728"/>
            <a:ext cx="402336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olution-num-2"/>
          <p:cNvSpPr/>
          <p:nvPr/>
        </p:nvSpPr>
        <p:spPr>
          <a:xfrm>
            <a:off x="4754880" y="2578608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25786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68112" y="25054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Nilai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68112" y="2816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calon diberi skor 0 sampai 100 beserta alasannya.</a:t>
            </a:r>
            <a:endParaRPr lang="en-US" sz="1400" dirty="0"/>
          </a:p>
        </p:txBody>
      </p:sp>
      <p:sp>
        <p:nvSpPr>
          <p:cNvPr id="15" name="solution-card-3"/>
          <p:cNvSpPr/>
          <p:nvPr/>
        </p:nvSpPr>
        <p:spPr>
          <a:xfrm>
            <a:off x="4572000" y="3419856"/>
            <a:ext cx="402336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olution-num-3"/>
          <p:cNvSpPr/>
          <p:nvPr/>
        </p:nvSpPr>
        <p:spPr>
          <a:xfrm>
            <a:off x="4754880" y="3602736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0" y="36027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68112" y="35295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Hubungi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68112" y="3840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klik membuka WhatsApp. Hasilnya dicatat otomatis.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9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hari bersama aplikasi</a:t>
            </a:r>
            <a:endParaRPr lang="en-US" sz="3400" dirty="0"/>
          </a:p>
        </p:txBody>
      </p:sp>
      <p:sp>
        <p:nvSpPr>
          <p:cNvPr id="3" name="day-line"/>
          <p:cNvSpPr/>
          <p:nvPr/>
        </p:nvSpPr>
        <p:spPr>
          <a:xfrm>
            <a:off x="960120" y="2148840"/>
            <a:ext cx="5897880" cy="0"/>
          </a:xfrm>
          <a:prstGeom prst="line">
            <a:avLst/>
          </a:prstGeom>
          <a:noFill/>
          <a:ln w="19050">
            <a:solidFill>
              <a:srgbClr val="C4CAD1"/>
            </a:solidFill>
            <a:prstDash val="dash"/>
          </a:ln>
        </p:spPr>
      </p:sp>
      <p:sp>
        <p:nvSpPr>
          <p:cNvPr id="4" name="day-1-ring-1"/>
          <p:cNvSpPr/>
          <p:nvPr/>
        </p:nvSpPr>
        <p:spPr>
          <a:xfrm>
            <a:off x="685800" y="1874520"/>
            <a:ext cx="548640" cy="548640"/>
          </a:xfrm>
          <a:prstGeom prst="ellipse">
            <a:avLst/>
          </a:prstGeom>
          <a:ln w="15875">
            <a:solidFill>
              <a:srgbClr val="0E8F7E">
                <a:alpha val="80000"/>
              </a:srgbClr>
            </a:solidFill>
            <a:prstDash val="solid"/>
          </a:ln>
        </p:spPr>
      </p:sp>
      <p:sp>
        <p:nvSpPr>
          <p:cNvPr id="5" name="day-1-ring-2"/>
          <p:cNvSpPr/>
          <p:nvPr/>
        </p:nvSpPr>
        <p:spPr>
          <a:xfrm>
            <a:off x="548640" y="1737360"/>
            <a:ext cx="822960" cy="822960"/>
          </a:xfrm>
          <a:prstGeom prst="ellipse">
            <a:avLst/>
          </a:prstGeom>
          <a:ln w="15875">
            <a:solidFill>
              <a:srgbClr val="0E8F7E">
                <a:alpha val="68000"/>
              </a:srgbClr>
            </a:solidFill>
            <a:prstDash val="solid"/>
          </a:ln>
        </p:spPr>
      </p:sp>
      <p:sp>
        <p:nvSpPr>
          <p:cNvPr id="6" name="day-dot-1"/>
          <p:cNvSpPr/>
          <p:nvPr/>
        </p:nvSpPr>
        <p:spPr>
          <a:xfrm>
            <a:off x="822960" y="2011680"/>
            <a:ext cx="274320" cy="274320"/>
          </a:xfrm>
          <a:prstGeom prst="ellipse">
            <a:avLst/>
          </a:prstGeom>
          <a:solidFill>
            <a:srgbClr val="0E8F7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Malam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3154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mencari bisnis baru di sekitar outlet, otomatis.</a:t>
            </a:r>
            <a:endParaRPr lang="en-US" sz="1400" dirty="0"/>
          </a:p>
        </p:txBody>
      </p:sp>
      <p:sp>
        <p:nvSpPr>
          <p:cNvPr id="9" name="day-2-ring-1"/>
          <p:cNvSpPr/>
          <p:nvPr/>
        </p:nvSpPr>
        <p:spPr>
          <a:xfrm>
            <a:off x="2651760" y="1874520"/>
            <a:ext cx="548640" cy="548640"/>
          </a:xfrm>
          <a:prstGeom prst="ellipse">
            <a:avLst/>
          </a:prstGeom>
          <a:ln w="15875">
            <a:solidFill>
              <a:srgbClr val="0E8F7E">
                <a:alpha val="80000"/>
              </a:srgbClr>
            </a:solidFill>
            <a:prstDash val="solid"/>
          </a:ln>
        </p:spPr>
      </p:sp>
      <p:sp>
        <p:nvSpPr>
          <p:cNvPr id="10" name="day-2-ring-2"/>
          <p:cNvSpPr/>
          <p:nvPr/>
        </p:nvSpPr>
        <p:spPr>
          <a:xfrm>
            <a:off x="2514600" y="1737360"/>
            <a:ext cx="822960" cy="822960"/>
          </a:xfrm>
          <a:prstGeom prst="ellipse">
            <a:avLst/>
          </a:prstGeom>
          <a:ln w="15875">
            <a:solidFill>
              <a:srgbClr val="0E8F7E">
                <a:alpha val="68000"/>
              </a:srgbClr>
            </a:solidFill>
            <a:prstDash val="solid"/>
          </a:ln>
        </p:spPr>
      </p:sp>
      <p:sp>
        <p:nvSpPr>
          <p:cNvPr id="11" name="day-dot-2"/>
          <p:cNvSpPr/>
          <p:nvPr/>
        </p:nvSpPr>
        <p:spPr>
          <a:xfrm>
            <a:off x="2788920" y="2011680"/>
            <a:ext cx="274320" cy="274320"/>
          </a:xfrm>
          <a:prstGeom prst="ellipse">
            <a:avLst/>
          </a:prstGeom>
          <a:solidFill>
            <a:srgbClr val="E8350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94560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Pagi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3154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 buka peta dan melihat calon yang paling menarik.</a:t>
            </a:r>
            <a:endParaRPr lang="en-US" sz="1400" dirty="0"/>
          </a:p>
        </p:txBody>
      </p:sp>
      <p:sp>
        <p:nvSpPr>
          <p:cNvPr id="14" name="day-3-ring-1"/>
          <p:cNvSpPr/>
          <p:nvPr/>
        </p:nvSpPr>
        <p:spPr>
          <a:xfrm>
            <a:off x="4617720" y="1874520"/>
            <a:ext cx="548640" cy="548640"/>
          </a:xfrm>
          <a:prstGeom prst="ellipse">
            <a:avLst/>
          </a:prstGeom>
          <a:ln w="15875">
            <a:solidFill>
              <a:srgbClr val="0E8F7E">
                <a:alpha val="80000"/>
              </a:srgbClr>
            </a:solidFill>
            <a:prstDash val="solid"/>
          </a:ln>
        </p:spPr>
      </p:sp>
      <p:sp>
        <p:nvSpPr>
          <p:cNvPr id="15" name="day-3-ring-2"/>
          <p:cNvSpPr/>
          <p:nvPr/>
        </p:nvSpPr>
        <p:spPr>
          <a:xfrm>
            <a:off x="4480560" y="1737360"/>
            <a:ext cx="822960" cy="822960"/>
          </a:xfrm>
          <a:prstGeom prst="ellipse">
            <a:avLst/>
          </a:prstGeom>
          <a:ln w="15875">
            <a:solidFill>
              <a:srgbClr val="0E8F7E">
                <a:alpha val="68000"/>
              </a:srgbClr>
            </a:solidFill>
            <a:prstDash val="solid"/>
          </a:ln>
        </p:spPr>
      </p:sp>
      <p:sp>
        <p:nvSpPr>
          <p:cNvPr id="16" name="day-dot-3"/>
          <p:cNvSpPr/>
          <p:nvPr/>
        </p:nvSpPr>
        <p:spPr>
          <a:xfrm>
            <a:off x="4754880" y="2011680"/>
            <a:ext cx="274320" cy="274320"/>
          </a:xfrm>
          <a:prstGeom prst="ellipse">
            <a:avLst/>
          </a:prstGeom>
          <a:solidFill>
            <a:srgbClr val="0E8F7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60520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Siang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3154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Hubungi lewat WhatsApp. Aplikasi mencatat siapa dan kapan.</a:t>
            </a:r>
            <a:endParaRPr lang="en-US" sz="1400" dirty="0"/>
          </a:p>
        </p:txBody>
      </p:sp>
      <p:sp>
        <p:nvSpPr>
          <p:cNvPr id="19" name="day-4-ring-1"/>
          <p:cNvSpPr/>
          <p:nvPr/>
        </p:nvSpPr>
        <p:spPr>
          <a:xfrm>
            <a:off x="6583680" y="1874520"/>
            <a:ext cx="548640" cy="548640"/>
          </a:xfrm>
          <a:prstGeom prst="ellipse">
            <a:avLst/>
          </a:prstGeom>
          <a:ln w="15875">
            <a:solidFill>
              <a:srgbClr val="0E8F7E">
                <a:alpha val="80000"/>
              </a:srgbClr>
            </a:solidFill>
            <a:prstDash val="solid"/>
          </a:ln>
        </p:spPr>
      </p:sp>
      <p:sp>
        <p:nvSpPr>
          <p:cNvPr id="20" name="day-4-ring-2"/>
          <p:cNvSpPr/>
          <p:nvPr/>
        </p:nvSpPr>
        <p:spPr>
          <a:xfrm>
            <a:off x="6446520" y="1737360"/>
            <a:ext cx="822960" cy="822960"/>
          </a:xfrm>
          <a:prstGeom prst="ellipse">
            <a:avLst/>
          </a:prstGeom>
          <a:ln w="15875">
            <a:solidFill>
              <a:srgbClr val="0E8F7E">
                <a:alpha val="68000"/>
              </a:srgbClr>
            </a:solidFill>
            <a:prstDash val="solid"/>
          </a:ln>
        </p:spPr>
      </p:sp>
      <p:sp>
        <p:nvSpPr>
          <p:cNvPr id="21" name="day-dot-4"/>
          <p:cNvSpPr/>
          <p:nvPr/>
        </p:nvSpPr>
        <p:spPr>
          <a:xfrm>
            <a:off x="6720840" y="2011680"/>
            <a:ext cx="274320" cy="274320"/>
          </a:xfrm>
          <a:prstGeom prst="ellipse">
            <a:avLst/>
          </a:prstGeom>
          <a:solidFill>
            <a:srgbClr val="0E8F7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26480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Sore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989320" y="3154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Atasan melihat laporan dan hasil tim hari itu.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9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Peta: lihat semua calon</a:t>
            </a:r>
            <a:endParaRPr lang="en-US" sz="3400" dirty="0"/>
          </a:p>
        </p:txBody>
      </p:sp>
      <p:sp>
        <p:nvSpPr>
          <p:cNvPr id="3" name="map-shot-frame"/>
          <p:cNvSpPr/>
          <p:nvPr/>
        </p:nvSpPr>
        <p:spPr>
          <a:xfrm>
            <a:off x="493776" y="1225296"/>
            <a:ext cx="52303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map-shot" descr="Peta Indonesia dengan titik outlet dan prospek berwar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120640" cy="3200400"/>
          </a:xfrm>
          <a:prstGeom prst="rect">
            <a:avLst/>
          </a:prstGeom>
        </p:spPr>
      </p:pic>
      <p:sp>
        <p:nvSpPr>
          <p:cNvPr id="5" name="legend-outlet"/>
          <p:cNvSpPr/>
          <p:nvPr/>
        </p:nvSpPr>
        <p:spPr>
          <a:xfrm>
            <a:off x="6153912" y="1444752"/>
            <a:ext cx="310896" cy="310896"/>
          </a:xfrm>
          <a:prstGeom prst="ellipse">
            <a:avLst/>
          </a:prstGeom>
          <a:solidFill>
            <a:srgbClr val="1F29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29400" y="1371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Titik hitam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629400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yang sudah memakai POS kita.</a:t>
            </a:r>
            <a:endParaRPr lang="en-US" sz="1400" dirty="0"/>
          </a:p>
        </p:txBody>
      </p:sp>
      <p:sp>
        <p:nvSpPr>
          <p:cNvPr id="8" name="legend-hot"/>
          <p:cNvSpPr/>
          <p:nvPr/>
        </p:nvSpPr>
        <p:spPr>
          <a:xfrm>
            <a:off x="6153912" y="2359152"/>
            <a:ext cx="310896" cy="310896"/>
          </a:xfrm>
          <a:prstGeom prst="ellipse">
            <a:avLst/>
          </a:prstGeom>
          <a:solidFill>
            <a:srgbClr val="E8350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29400" y="2286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Warna merah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2606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Calon paling menarik (skor Panas).</a:t>
            </a:r>
            <a:endParaRPr lang="en-US" sz="1400" dirty="0"/>
          </a:p>
        </p:txBody>
      </p:sp>
      <p:sp>
        <p:nvSpPr>
          <p:cNvPr id="11" name="legend-medium"/>
          <p:cNvSpPr/>
          <p:nvPr/>
        </p:nvSpPr>
        <p:spPr>
          <a:xfrm>
            <a:off x="6153912" y="3273552"/>
            <a:ext cx="310896" cy="310896"/>
          </a:xfrm>
          <a:prstGeom prst="ellipse">
            <a:avLst/>
          </a:prstGeom>
          <a:solidFill>
            <a:srgbClr val="0E9F8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29400" y="3200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Warna hijau tosca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629400" y="3520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Calon dengan peluang sedang.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0" y="4206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pada gambar adalah data contoh.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9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Klik titik, lihat kartunya</a:t>
            </a:r>
            <a:endParaRPr lang="en-US" sz="3400" dirty="0"/>
          </a:p>
        </p:txBody>
      </p:sp>
      <p:sp>
        <p:nvSpPr>
          <p:cNvPr id="3" name="drawer-shot-frame"/>
          <p:cNvSpPr/>
          <p:nvPr/>
        </p:nvSpPr>
        <p:spPr>
          <a:xfrm>
            <a:off x="493776" y="1225296"/>
            <a:ext cx="52303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drawer-shot" descr="Peta dengan kartu prospek terbuka di sisi kan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120640" cy="3200400"/>
          </a:xfrm>
          <a:prstGeom prst="rect">
            <a:avLst/>
          </a:prstGeom>
        </p:spPr>
      </p:pic>
      <p:sp>
        <p:nvSpPr>
          <p:cNvPr id="5" name="callout-1"/>
          <p:cNvSpPr/>
          <p:nvPr/>
        </p:nvSpPr>
        <p:spPr>
          <a:xfrm>
            <a:off x="4009644" y="1754124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009644" y="17541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callout-2"/>
          <p:cNvSpPr/>
          <p:nvPr/>
        </p:nvSpPr>
        <p:spPr>
          <a:xfrm>
            <a:off x="4624832" y="204216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24832" y="2042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callout-3"/>
          <p:cNvSpPr/>
          <p:nvPr/>
        </p:nvSpPr>
        <p:spPr>
          <a:xfrm>
            <a:off x="3949192" y="4029964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949192" y="40299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legend-num-1"/>
          <p:cNvSpPr/>
          <p:nvPr/>
        </p:nvSpPr>
        <p:spPr>
          <a:xfrm>
            <a:off x="6126480" y="13716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264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629400" y="13533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Skor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629400" y="166420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0 sampai 100. Makin tinggi, makin layak dihubungi.</a:t>
            </a:r>
            <a:endParaRPr lang="en-US" sz="1400" dirty="0"/>
          </a:p>
        </p:txBody>
      </p:sp>
      <p:sp>
        <p:nvSpPr>
          <p:cNvPr id="15" name="legend-num-2"/>
          <p:cNvSpPr/>
          <p:nvPr/>
        </p:nvSpPr>
        <p:spPr>
          <a:xfrm>
            <a:off x="6126480" y="242316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2648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629400" y="2404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Alasan skor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629400" y="271576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hal yang membuat skor naik atau turun.</a:t>
            </a:r>
            <a:endParaRPr lang="en-US" sz="1400" dirty="0"/>
          </a:p>
        </p:txBody>
      </p:sp>
      <p:sp>
        <p:nvSpPr>
          <p:cNvPr id="19" name="legend-num-3"/>
          <p:cNvSpPr/>
          <p:nvPr/>
        </p:nvSpPr>
        <p:spPr>
          <a:xfrm>
            <a:off x="6126480" y="347472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2648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629400" y="34564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Kontak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629400" y="376732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Telepon, alamat, dan rating. Geser ke bawah untuk tombol WhatsApp.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9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membaca skor</a:t>
            </a:r>
            <a:endParaRPr lang="en-US" sz="3400" dirty="0"/>
          </a:p>
        </p:txBody>
      </p:sp>
      <p:sp>
        <p:nvSpPr>
          <p:cNvPr id="3" name="band-card-1"/>
          <p:cNvSpPr/>
          <p:nvPr/>
        </p:nvSpPr>
        <p:spPr>
          <a:xfrm>
            <a:off x="548640" y="1371600"/>
            <a:ext cx="39319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nd-dot-1"/>
          <p:cNvSpPr/>
          <p:nvPr/>
        </p:nvSpPr>
        <p:spPr>
          <a:xfrm>
            <a:off x="758952" y="1545336"/>
            <a:ext cx="310896" cy="310896"/>
          </a:xfrm>
          <a:prstGeom prst="ellipse">
            <a:avLst/>
          </a:prstGeom>
          <a:solidFill>
            <a:srgbClr val="E8350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1444752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Panas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1444752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– 100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444752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Hubungi lebih dulu</a:t>
            </a:r>
            <a:endParaRPr lang="en-US" sz="1400" dirty="0"/>
          </a:p>
        </p:txBody>
      </p:sp>
      <p:sp>
        <p:nvSpPr>
          <p:cNvPr id="8" name="band-card-2"/>
          <p:cNvSpPr/>
          <p:nvPr/>
        </p:nvSpPr>
        <p:spPr>
          <a:xfrm>
            <a:off x="548640" y="2148840"/>
            <a:ext cx="39319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nd-dot-2"/>
          <p:cNvSpPr/>
          <p:nvPr/>
        </p:nvSpPr>
        <p:spPr>
          <a:xfrm>
            <a:off x="758952" y="2322576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0160" y="2221992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Hangat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2221992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– 74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2221992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Layak dicoba</a:t>
            </a:r>
            <a:endParaRPr lang="en-US" sz="1400" dirty="0"/>
          </a:p>
        </p:txBody>
      </p:sp>
      <p:sp>
        <p:nvSpPr>
          <p:cNvPr id="13" name="band-card-3"/>
          <p:cNvSpPr/>
          <p:nvPr/>
        </p:nvSpPr>
        <p:spPr>
          <a:xfrm>
            <a:off x="548640" y="2926080"/>
            <a:ext cx="39319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nd-dot-3"/>
          <p:cNvSpPr/>
          <p:nvPr/>
        </p:nvSpPr>
        <p:spPr>
          <a:xfrm>
            <a:off x="758952" y="3099816"/>
            <a:ext cx="310896" cy="310896"/>
          </a:xfrm>
          <a:prstGeom prst="ellipse">
            <a:avLst/>
          </a:prstGeom>
          <a:solidFill>
            <a:srgbClr val="0E9F8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80160" y="2999232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Sedang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2999232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– 54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2999232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ada waktu</a:t>
            </a:r>
            <a:endParaRPr lang="en-US" sz="1400" dirty="0"/>
          </a:p>
        </p:txBody>
      </p:sp>
      <p:sp>
        <p:nvSpPr>
          <p:cNvPr id="18" name="band-card-4"/>
          <p:cNvSpPr/>
          <p:nvPr/>
        </p:nvSpPr>
        <p:spPr>
          <a:xfrm>
            <a:off x="548640" y="3703320"/>
            <a:ext cx="39319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nd-dot-4"/>
          <p:cNvSpPr/>
          <p:nvPr/>
        </p:nvSpPr>
        <p:spPr>
          <a:xfrm>
            <a:off x="758952" y="3877056"/>
            <a:ext cx="310896" cy="310896"/>
          </a:xfrm>
          <a:prstGeom prst="ellipse">
            <a:avLst/>
          </a:prstGeom>
          <a:solidFill>
            <a:srgbClr val="6B7F9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80160" y="3776472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Dingin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2377440" y="3776472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34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3776472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 rendah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Skor dihitung dari 6 hal</a:t>
            </a:r>
            <a:endParaRPr lang="en-US" sz="1800" dirty="0"/>
          </a:p>
        </p:txBody>
      </p:sp>
      <p:sp>
        <p:nvSpPr>
          <p:cNvPr id="24" name="factor-card-1"/>
          <p:cNvSpPr/>
          <p:nvPr/>
        </p:nvSpPr>
        <p:spPr>
          <a:xfrm>
            <a:off x="4937760" y="1920240"/>
            <a:ext cx="178308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factor-outline-1"/>
          <p:cNvSpPr/>
          <p:nvPr/>
        </p:nvSpPr>
        <p:spPr>
          <a:xfrm>
            <a:off x="4937760" y="1920240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26" name="factor-1-badge"/>
          <p:cNvSpPr/>
          <p:nvPr/>
        </p:nvSpPr>
        <p:spPr>
          <a:xfrm>
            <a:off x="5029200" y="2103120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7" name="factor-1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2070" y="2205990"/>
            <a:ext cx="205740" cy="20574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5504688" y="201168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Kecocokan jenis usaha</a:t>
            </a:r>
            <a:endParaRPr lang="en-US" sz="1400" dirty="0"/>
          </a:p>
        </p:txBody>
      </p:sp>
      <p:sp>
        <p:nvSpPr>
          <p:cNvPr id="29" name="factor-card-2"/>
          <p:cNvSpPr/>
          <p:nvPr/>
        </p:nvSpPr>
        <p:spPr>
          <a:xfrm>
            <a:off x="6812280" y="1920240"/>
            <a:ext cx="178308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0" name="factor-outline-2"/>
          <p:cNvSpPr/>
          <p:nvPr/>
        </p:nvSpPr>
        <p:spPr>
          <a:xfrm>
            <a:off x="6812280" y="1920240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31" name="factor-2-badge"/>
          <p:cNvSpPr/>
          <p:nvPr/>
        </p:nvSpPr>
        <p:spPr>
          <a:xfrm>
            <a:off x="6903720" y="2103120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2" name="factor-2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590" y="2205990"/>
            <a:ext cx="205740" cy="205740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7379208" y="201168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dan ulasan</a:t>
            </a:r>
            <a:endParaRPr lang="en-US" sz="1400" dirty="0"/>
          </a:p>
        </p:txBody>
      </p:sp>
      <p:sp>
        <p:nvSpPr>
          <p:cNvPr id="34" name="factor-card-3"/>
          <p:cNvSpPr/>
          <p:nvPr/>
        </p:nvSpPr>
        <p:spPr>
          <a:xfrm>
            <a:off x="4937760" y="2816352"/>
            <a:ext cx="178308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5" name="factor-outline-3"/>
          <p:cNvSpPr/>
          <p:nvPr/>
        </p:nvSpPr>
        <p:spPr>
          <a:xfrm>
            <a:off x="4937760" y="2816352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36" name="factor-3-badge"/>
          <p:cNvSpPr/>
          <p:nvPr/>
        </p:nvSpPr>
        <p:spPr>
          <a:xfrm>
            <a:off x="5029200" y="2999232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7" name="factor-3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070" y="3102102"/>
            <a:ext cx="205740" cy="205740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5504688" y="2907792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Dekat outlet kita</a:t>
            </a:r>
            <a:endParaRPr lang="en-US" sz="1400" dirty="0"/>
          </a:p>
        </p:txBody>
      </p:sp>
      <p:sp>
        <p:nvSpPr>
          <p:cNvPr id="39" name="factor-card-4"/>
          <p:cNvSpPr/>
          <p:nvPr/>
        </p:nvSpPr>
        <p:spPr>
          <a:xfrm>
            <a:off x="6812280" y="2816352"/>
            <a:ext cx="178308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0" name="factor-outline-4"/>
          <p:cNvSpPr/>
          <p:nvPr/>
        </p:nvSpPr>
        <p:spPr>
          <a:xfrm>
            <a:off x="6812280" y="2816352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41" name="factor-4-badge"/>
          <p:cNvSpPr/>
          <p:nvPr/>
        </p:nvSpPr>
        <p:spPr>
          <a:xfrm>
            <a:off x="6903720" y="2999232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2" name="factor-4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6590" y="3102102"/>
            <a:ext cx="205740" cy="205740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7379208" y="2907792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yang ramai</a:t>
            </a:r>
            <a:endParaRPr lang="en-US" sz="1400" dirty="0"/>
          </a:p>
        </p:txBody>
      </p:sp>
      <p:sp>
        <p:nvSpPr>
          <p:cNvPr id="44" name="factor-card-5"/>
          <p:cNvSpPr/>
          <p:nvPr/>
        </p:nvSpPr>
        <p:spPr>
          <a:xfrm>
            <a:off x="4937760" y="3712464"/>
            <a:ext cx="178308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5" name="factor-outline-5"/>
          <p:cNvSpPr/>
          <p:nvPr/>
        </p:nvSpPr>
        <p:spPr>
          <a:xfrm>
            <a:off x="4937760" y="3712464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46" name="factor-5-badge"/>
          <p:cNvSpPr/>
          <p:nvPr/>
        </p:nvSpPr>
        <p:spPr>
          <a:xfrm>
            <a:off x="5029200" y="3895344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7" name="factor-5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2070" y="3998214"/>
            <a:ext cx="205740" cy="205740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5504688" y="3803904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 lengkap</a:t>
            </a:r>
            <a:endParaRPr lang="en-US" sz="1400" dirty="0"/>
          </a:p>
        </p:txBody>
      </p:sp>
      <p:sp>
        <p:nvSpPr>
          <p:cNvPr id="49" name="factor-card-6"/>
          <p:cNvSpPr/>
          <p:nvPr/>
        </p:nvSpPr>
        <p:spPr>
          <a:xfrm>
            <a:off x="6812280" y="3712464"/>
            <a:ext cx="178308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0" name="factor-outline-6"/>
          <p:cNvSpPr/>
          <p:nvPr/>
        </p:nvSpPr>
        <p:spPr>
          <a:xfrm>
            <a:off x="6812280" y="3712464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51" name="factor-6-badge"/>
          <p:cNvSpPr/>
          <p:nvPr/>
        </p:nvSpPr>
        <p:spPr>
          <a:xfrm>
            <a:off x="6903720" y="3895344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2" name="factor-6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6590" y="3998214"/>
            <a:ext cx="205740" cy="205740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7379208" y="3803904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Baru buka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9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Menghubungi dengan sopan</a:t>
            </a:r>
            <a:endParaRPr lang="en-US" sz="3400" dirty="0"/>
          </a:p>
        </p:txBody>
      </p:sp>
      <p:sp>
        <p:nvSpPr>
          <p:cNvPr id="3" name="polite-1-badge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polite-1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5773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32588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Pesan sudah terisi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67335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diedit dulu sebelum dikirim. Tombol aktif jika ada nomor.</a:t>
            </a:r>
            <a:endParaRPr lang="en-US" sz="1400" dirty="0"/>
          </a:p>
        </p:txBody>
      </p:sp>
      <p:sp>
        <p:nvSpPr>
          <p:cNvPr id="7" name="polite-2-badge"/>
          <p:cNvSpPr/>
          <p:nvPr/>
        </p:nvSpPr>
        <p:spPr>
          <a:xfrm>
            <a:off x="548640" y="2441448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polite-2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2601468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35000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Peringatan dobel kontak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371600" y="2697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Muncul jika rekan sudah menghubungi dalam 7 hari terakhir.</a:t>
            </a:r>
            <a:endParaRPr lang="en-US" sz="1400" dirty="0"/>
          </a:p>
        </p:txBody>
      </p:sp>
      <p:sp>
        <p:nvSpPr>
          <p:cNvPr id="11" name="polite-3-badge"/>
          <p:cNvSpPr/>
          <p:nvPr/>
        </p:nvSpPr>
        <p:spPr>
          <a:xfrm>
            <a:off x="548640" y="3465576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2" name="polite-3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3625596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33741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Jangan hubungi lagi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371600" y="37216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Tandai calon yang menolak. Tombol WhatsApp-nya otomatis hilang.</a:t>
            </a:r>
            <a:endParaRPr lang="en-US" sz="1400" dirty="0"/>
          </a:p>
        </p:txBody>
      </p:sp>
      <p:sp>
        <p:nvSpPr>
          <p:cNvPr id="15" name="gap-card"/>
          <p:cNvSpPr/>
          <p:nvPr/>
        </p:nvSpPr>
        <p:spPr>
          <a:xfrm>
            <a:off x="5943600" y="1371600"/>
            <a:ext cx="2651760" cy="3017520"/>
          </a:xfrm>
          <a:prstGeom prst="roundRect">
            <a:avLst>
              <a:gd name="adj" fmla="val 413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0" y="16916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E8F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7200" dirty="0"/>
          </a:p>
        </p:txBody>
      </p:sp>
      <p:sp>
        <p:nvSpPr>
          <p:cNvPr id="17" name="Text 12"/>
          <p:cNvSpPr txBox="1"/>
          <p:nvPr/>
        </p:nvSpPr>
        <p:spPr>
          <a:xfrm>
            <a:off x="6172200" y="2880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jeda minimal antara dua kontak ke calon yang sama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17220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bisa diatur admin.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9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Pantau perjalanan tiap calon</a:t>
            </a:r>
            <a:endParaRPr lang="en-US" sz="3400" dirty="0"/>
          </a:p>
        </p:txBody>
      </p:sp>
      <p:sp>
        <p:nvSpPr>
          <p:cNvPr id="3" name="col-1"/>
          <p:cNvSpPr/>
          <p:nvPr/>
        </p:nvSpPr>
        <p:spPr>
          <a:xfrm>
            <a:off x="548640" y="1325880"/>
            <a:ext cx="1499616" cy="251460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l-dot-1"/>
          <p:cNvSpPr/>
          <p:nvPr/>
        </p:nvSpPr>
        <p:spPr>
          <a:xfrm>
            <a:off x="685800" y="1536192"/>
            <a:ext cx="182880" cy="182880"/>
          </a:xfrm>
          <a:prstGeom prst="ellipse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481328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Baru</a:t>
            </a:r>
            <a:endParaRPr lang="en-US" sz="1400" dirty="0"/>
          </a:p>
        </p:txBody>
      </p:sp>
      <p:sp>
        <p:nvSpPr>
          <p:cNvPr id="6" name="card-1-1"/>
          <p:cNvSpPr/>
          <p:nvPr/>
        </p:nvSpPr>
        <p:spPr>
          <a:xfrm>
            <a:off x="658368" y="1965960"/>
            <a:ext cx="12801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96596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Kopi Senja</a:t>
            </a:r>
            <a:endParaRPr lang="en-US" sz="1400" dirty="0"/>
          </a:p>
        </p:txBody>
      </p:sp>
      <p:sp>
        <p:nvSpPr>
          <p:cNvPr id="8" name="card-1-2"/>
          <p:cNvSpPr/>
          <p:nvPr/>
        </p:nvSpPr>
        <p:spPr>
          <a:xfrm>
            <a:off x="658368" y="2697480"/>
            <a:ext cx="12801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69748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 Roti</a:t>
            </a:r>
            <a:endParaRPr lang="en-US" sz="1400" dirty="0"/>
          </a:p>
        </p:txBody>
      </p:sp>
      <p:sp>
        <p:nvSpPr>
          <p:cNvPr id="10" name="col-2"/>
          <p:cNvSpPr/>
          <p:nvPr/>
        </p:nvSpPr>
        <p:spPr>
          <a:xfrm>
            <a:off x="2185416" y="1325880"/>
            <a:ext cx="1499616" cy="251460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ol-dot-2"/>
          <p:cNvSpPr/>
          <p:nvPr/>
        </p:nvSpPr>
        <p:spPr>
          <a:xfrm>
            <a:off x="2322576" y="1536192"/>
            <a:ext cx="182880" cy="182880"/>
          </a:xfrm>
          <a:prstGeom prst="ellipse">
            <a:avLst/>
          </a:prstGeom>
          <a:solidFill>
            <a:srgbClr val="0284C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96896" y="1481328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Dihubungi</a:t>
            </a:r>
            <a:endParaRPr lang="en-US" sz="1400" dirty="0"/>
          </a:p>
        </p:txBody>
      </p:sp>
      <p:sp>
        <p:nvSpPr>
          <p:cNvPr id="13" name="card-2-1"/>
          <p:cNvSpPr/>
          <p:nvPr/>
        </p:nvSpPr>
        <p:spPr>
          <a:xfrm>
            <a:off x="2295144" y="1965960"/>
            <a:ext cx="12801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86584" y="196596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Surya</a:t>
            </a:r>
            <a:endParaRPr lang="en-US" sz="1400" dirty="0"/>
          </a:p>
        </p:txBody>
      </p:sp>
      <p:sp>
        <p:nvSpPr>
          <p:cNvPr id="15" name="col-3"/>
          <p:cNvSpPr/>
          <p:nvPr/>
        </p:nvSpPr>
        <p:spPr>
          <a:xfrm>
            <a:off x="3822192" y="1325880"/>
            <a:ext cx="1499616" cy="251460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ol-dot-3"/>
          <p:cNvSpPr/>
          <p:nvPr/>
        </p:nvSpPr>
        <p:spPr>
          <a:xfrm>
            <a:off x="3959352" y="1536192"/>
            <a:ext cx="182880" cy="182880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33672" y="1481328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1400" dirty="0"/>
          </a:p>
        </p:txBody>
      </p:sp>
      <p:sp>
        <p:nvSpPr>
          <p:cNvPr id="18" name="card-3-1"/>
          <p:cNvSpPr/>
          <p:nvPr/>
        </p:nvSpPr>
        <p:spPr>
          <a:xfrm>
            <a:off x="3931920" y="1965960"/>
            <a:ext cx="12801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23360" y="196596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Apotek Sehat</a:t>
            </a:r>
            <a:endParaRPr lang="en-US" sz="1400" dirty="0"/>
          </a:p>
        </p:txBody>
      </p:sp>
      <p:sp>
        <p:nvSpPr>
          <p:cNvPr id="20" name="col-4"/>
          <p:cNvSpPr/>
          <p:nvPr/>
        </p:nvSpPr>
        <p:spPr>
          <a:xfrm>
            <a:off x="5458968" y="1325880"/>
            <a:ext cx="1499616" cy="251460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col-dot-4"/>
          <p:cNvSpPr/>
          <p:nvPr/>
        </p:nvSpPr>
        <p:spPr>
          <a:xfrm>
            <a:off x="5596128" y="1536192"/>
            <a:ext cx="182880" cy="182880"/>
          </a:xfrm>
          <a:prstGeom prst="ellipse">
            <a:avLst/>
          </a:prstGeom>
          <a:solidFill>
            <a:srgbClr val="16A3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70448" y="1481328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</a:t>
            </a:r>
            <a:endParaRPr lang="en-US" sz="1400" dirty="0"/>
          </a:p>
        </p:txBody>
      </p:sp>
      <p:sp>
        <p:nvSpPr>
          <p:cNvPr id="23" name="card-4-1"/>
          <p:cNvSpPr/>
          <p:nvPr/>
        </p:nvSpPr>
        <p:spPr>
          <a:xfrm>
            <a:off x="5568696" y="1965960"/>
            <a:ext cx="12801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0136" y="196596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Warung Asri</a:t>
            </a:r>
            <a:endParaRPr lang="en-US" sz="1400" dirty="0"/>
          </a:p>
        </p:txBody>
      </p:sp>
      <p:sp>
        <p:nvSpPr>
          <p:cNvPr id="25" name="col-5"/>
          <p:cNvSpPr/>
          <p:nvPr/>
        </p:nvSpPr>
        <p:spPr>
          <a:xfrm>
            <a:off x="7095744" y="1325880"/>
            <a:ext cx="1499616" cy="251460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col-dot-5"/>
          <p:cNvSpPr/>
          <p:nvPr/>
        </p:nvSpPr>
        <p:spPr>
          <a:xfrm>
            <a:off x="7232904" y="1536192"/>
            <a:ext cx="182880" cy="182880"/>
          </a:xfrm>
          <a:prstGeom prst="ellipse">
            <a:avLst/>
          </a:prstGeom>
          <a:solidFill>
            <a:srgbClr val="C241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07224" y="1481328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Ditolak</a:t>
            </a:r>
            <a:endParaRPr lang="en-US" sz="1400" dirty="0"/>
          </a:p>
        </p:txBody>
      </p:sp>
      <p:sp>
        <p:nvSpPr>
          <p:cNvPr id="28" name="card-5-1"/>
          <p:cNvSpPr/>
          <p:nvPr/>
        </p:nvSpPr>
        <p:spPr>
          <a:xfrm>
            <a:off x="7205472" y="1965960"/>
            <a:ext cx="12801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96912" y="196596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 Nusa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Seret kartu ke kolom berikutnya setelah ada kabar. Aplikasi mencatat siapa yang memindahkan dan kapan.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9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Laporan: tabel dan unduhan</a:t>
            </a:r>
            <a:endParaRPr lang="en-US" sz="3400" dirty="0"/>
          </a:p>
        </p:txBody>
      </p:sp>
      <p:sp>
        <p:nvSpPr>
          <p:cNvPr id="3" name="report-shot-frame"/>
          <p:cNvSpPr/>
          <p:nvPr/>
        </p:nvSpPr>
        <p:spPr>
          <a:xfrm>
            <a:off x="493776" y="1225296"/>
            <a:ext cx="52303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report-shot" descr="Halaman Laporan berisi tabel prospek dengan tombol Unduh CSV dan Unduh Exc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120640" cy="3200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126480" y="132588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8F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 lengkap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655064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Nama, kota, telepon, skor, status, dan lainnya.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33172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8F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Urutkan dan saring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660904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judul kolom, atau pakai tombol Filter.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3337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8F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Unduh sesuai filter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3666744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CSV atau Excel. Isinya hanya yang sedang tampil.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4297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Nomor berlabel Simulasi adalah data contoh.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9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Susun rute kunjungan</a:t>
            </a:r>
            <a:endParaRPr lang="en-US" sz="3400" dirty="0"/>
          </a:p>
        </p:txBody>
      </p:sp>
      <p:sp>
        <p:nvSpPr>
          <p:cNvPr id="3" name="route-card-1"/>
          <p:cNvSpPr/>
          <p:nvPr/>
        </p:nvSpPr>
        <p:spPr>
          <a:xfrm>
            <a:off x="548640" y="1417320"/>
            <a:ext cx="25603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oute-1-badge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route-1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805940"/>
            <a:ext cx="320040" cy="320040"/>
          </a:xfrm>
          <a:prstGeom prst="rect">
            <a:avLst/>
          </a:prstGeom>
        </p:spPr>
      </p:pic>
      <p:sp>
        <p:nvSpPr>
          <p:cNvPr id="6" name="route-num-1"/>
          <p:cNvSpPr/>
          <p:nvPr/>
        </p:nvSpPr>
        <p:spPr>
          <a:xfrm>
            <a:off x="2560320" y="164592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56032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Pilih calon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80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Centang 2 sampai 30 calon di peta atau di tabel.</a:t>
            </a:r>
            <a:endParaRPr lang="en-US" sz="1400" dirty="0"/>
          </a:p>
        </p:txBody>
      </p:sp>
      <p:sp>
        <p:nvSpPr>
          <p:cNvPr id="10" name="route-card-2"/>
          <p:cNvSpPr/>
          <p:nvPr/>
        </p:nvSpPr>
        <p:spPr>
          <a:xfrm>
            <a:off x="3291840" y="1417320"/>
            <a:ext cx="25603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route-2-badge"/>
          <p:cNvSpPr/>
          <p:nvPr/>
        </p:nvSpPr>
        <p:spPr>
          <a:xfrm>
            <a:off x="3520440" y="164592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2" name="route-2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1805940"/>
            <a:ext cx="320040" cy="320040"/>
          </a:xfrm>
          <a:prstGeom prst="rect">
            <a:avLst/>
          </a:prstGeom>
        </p:spPr>
      </p:pic>
      <p:sp>
        <p:nvSpPr>
          <p:cNvPr id="13" name="route-num-2"/>
          <p:cNvSpPr/>
          <p:nvPr/>
        </p:nvSpPr>
        <p:spPr>
          <a:xfrm>
            <a:off x="5303520" y="164592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30352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52044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Susun rute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3520440" y="2880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mengurutkan agar perjalanan paling pendek.</a:t>
            </a:r>
            <a:endParaRPr lang="en-US" sz="1400" dirty="0"/>
          </a:p>
        </p:txBody>
      </p:sp>
      <p:sp>
        <p:nvSpPr>
          <p:cNvPr id="17" name="route-card-3"/>
          <p:cNvSpPr/>
          <p:nvPr/>
        </p:nvSpPr>
        <p:spPr>
          <a:xfrm>
            <a:off x="6035040" y="1417320"/>
            <a:ext cx="25603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route-3-badge"/>
          <p:cNvSpPr/>
          <p:nvPr/>
        </p:nvSpPr>
        <p:spPr>
          <a:xfrm>
            <a:off x="6263640" y="164592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9" name="route-3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805940"/>
            <a:ext cx="320040" cy="320040"/>
          </a:xfrm>
          <a:prstGeom prst="rect">
            <a:avLst/>
          </a:prstGeom>
        </p:spPr>
      </p:pic>
      <p:sp>
        <p:nvSpPr>
          <p:cNvPr id="20" name="route-num-3"/>
          <p:cNvSpPr/>
          <p:nvPr/>
        </p:nvSpPr>
        <p:spPr>
          <a:xfrm>
            <a:off x="8046720" y="164592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04672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26364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Buka di Maps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263640" y="2880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tombol membuka Google Maps, lalu ikuti petunjuk arah.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Perkiraan jarak dan urutan membantu menghemat waktu di jalan.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9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Untuk HR dan manajemen</a:t>
            </a:r>
            <a:endParaRPr lang="en-US" sz="3400" dirty="0"/>
          </a:p>
        </p:txBody>
      </p:sp>
      <p:sp>
        <p:nvSpPr>
          <p:cNvPr id="3" name="mgmt-card-1"/>
          <p:cNvSpPr/>
          <p:nvPr/>
        </p:nvSpPr>
        <p:spPr>
          <a:xfrm>
            <a:off x="548640" y="1371600"/>
            <a:ext cx="2560320" cy="31546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gmt-1-badge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mgmt-1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Akun pribadi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852928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orang punya akun sendiri. Semua aktivitas tercatat: siapa, kapan, dan apa. Saat ini semua akun punya akses yang sama.</a:t>
            </a:r>
            <a:endParaRPr lang="en-US" sz="1400" dirty="0"/>
          </a:p>
        </p:txBody>
      </p:sp>
      <p:sp>
        <p:nvSpPr>
          <p:cNvPr id="8" name="mgmt-card-2"/>
          <p:cNvSpPr/>
          <p:nvPr/>
        </p:nvSpPr>
        <p:spPr>
          <a:xfrm>
            <a:off x="3291840" y="1371600"/>
            <a:ext cx="2560320" cy="31546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gmt-2-badge"/>
          <p:cNvSpPr/>
          <p:nvPr/>
        </p:nvSpPr>
        <p:spPr>
          <a:xfrm>
            <a:off x="3520440" y="160020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mgmt-2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17602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Dasbor ringkas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852928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penting dalam satu layar: jumlah outlet, prospek aktif, tingkat konversi, dan deal bulan ini.</a:t>
            </a:r>
            <a:endParaRPr lang="en-US" sz="1400" dirty="0"/>
          </a:p>
        </p:txBody>
      </p:sp>
      <p:sp>
        <p:nvSpPr>
          <p:cNvPr id="13" name="mgmt-card-3"/>
          <p:cNvSpPr/>
          <p:nvPr/>
        </p:nvSpPr>
        <p:spPr>
          <a:xfrm>
            <a:off x="6035040" y="1371600"/>
            <a:ext cx="2560320" cy="31546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mgmt-3-badge"/>
          <p:cNvSpPr/>
          <p:nvPr/>
        </p:nvSpPr>
        <p:spPr>
          <a:xfrm>
            <a:off x="6263640" y="160020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mgmt-3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7602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Etika dan privasi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852928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data bisnis yang terbuka untuk umum. Ada batas frekuensi kontak dan pilihan jangan hubungi lagi.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9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Pertanyaan yang sering muncul</a:t>
            </a:r>
            <a:endParaRPr lang="en-US" sz="3400" dirty="0"/>
          </a:p>
        </p:txBody>
      </p:sp>
      <p:sp>
        <p:nvSpPr>
          <p:cNvPr id="3" name="qa-card-1"/>
          <p:cNvSpPr/>
          <p:nvPr/>
        </p:nvSpPr>
        <p:spPr>
          <a:xfrm>
            <a:off x="548640" y="128016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44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8F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Tombol WhatsApp abu-abu?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Calon itu belum punya nomor telepon, atau sudah ditandai jangan hubungi.</a:t>
            </a:r>
            <a:endParaRPr lang="en-US" sz="1400" dirty="0"/>
          </a:p>
        </p:txBody>
      </p:sp>
      <p:sp>
        <p:nvSpPr>
          <p:cNvPr id="6" name="qa-card-2"/>
          <p:cNvSpPr/>
          <p:nvPr/>
        </p:nvSpPr>
        <p:spPr>
          <a:xfrm>
            <a:off x="4663440" y="128016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444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8F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arti label Simulasi?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745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contoh untuk demo, bukan data asli. Jangan dipakai untuk menghubungi.</a:t>
            </a:r>
            <a:endParaRPr lang="en-US" sz="1400" dirty="0"/>
          </a:p>
        </p:txBody>
      </p:sp>
      <p:sp>
        <p:nvSpPr>
          <p:cNvPr id="9" name="qa-card-3"/>
          <p:cNvSpPr/>
          <p:nvPr/>
        </p:nvSpPr>
        <p:spPr>
          <a:xfrm>
            <a:off x="548640" y="288036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0449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8F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Alamat kosong?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747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data kadang tidak punya alamat. Aplikasi menampilkan titik koordinatnya.</a:t>
            </a:r>
            <a:endParaRPr lang="en-US" sz="1400" dirty="0"/>
          </a:p>
        </p:txBody>
      </p:sp>
      <p:sp>
        <p:nvSpPr>
          <p:cNvPr id="12" name="qa-card-4"/>
          <p:cNvSpPr/>
          <p:nvPr/>
        </p:nvSpPr>
        <p:spPr>
          <a:xfrm>
            <a:off x="4663440" y="288036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0449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8F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Mulai dari siapa?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4747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dari skor Panas yang belum pernah dihubungi.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9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-ring-1"/>
          <p:cNvSpPr/>
          <p:nvPr/>
        </p:nvSpPr>
        <p:spPr>
          <a:xfrm>
            <a:off x="7040880" y="3383280"/>
            <a:ext cx="1280160" cy="1280160"/>
          </a:xfrm>
          <a:prstGeom prst="ellipse">
            <a:avLst/>
          </a:prstGeom>
          <a:ln w="15875">
            <a:solidFill>
              <a:srgbClr val="0E8F7E">
                <a:alpha val="80000"/>
              </a:srgbClr>
            </a:solidFill>
            <a:prstDash val="solid"/>
          </a:ln>
        </p:spPr>
      </p:sp>
      <p:sp>
        <p:nvSpPr>
          <p:cNvPr id="3" name="end-ring-2"/>
          <p:cNvSpPr/>
          <p:nvPr/>
        </p:nvSpPr>
        <p:spPr>
          <a:xfrm>
            <a:off x="6446520" y="2788920"/>
            <a:ext cx="2468880" cy="2468880"/>
          </a:xfrm>
          <a:prstGeom prst="ellipse">
            <a:avLst/>
          </a:prstGeom>
          <a:ln w="15875">
            <a:solidFill>
              <a:srgbClr val="0E8F7E">
                <a:alpha val="68000"/>
              </a:srgbClr>
            </a:solidFill>
            <a:prstDash val="solid"/>
          </a:ln>
        </p:spPr>
      </p:sp>
      <p:sp>
        <p:nvSpPr>
          <p:cNvPr id="4" name="end-ring-3"/>
          <p:cNvSpPr/>
          <p:nvPr/>
        </p:nvSpPr>
        <p:spPr>
          <a:xfrm>
            <a:off x="5852160" y="2194560"/>
            <a:ext cx="3657600" cy="3657600"/>
          </a:xfrm>
          <a:prstGeom prst="ellipse">
            <a:avLst/>
          </a:prstGeom>
          <a:ln w="15875">
            <a:solidFill>
              <a:srgbClr val="0E8F7E">
                <a:alpha val="56000"/>
              </a:srgbClr>
            </a:solidFill>
            <a:prstDash val="solid"/>
          </a:ln>
        </p:spPr>
      </p:sp>
      <p:sp>
        <p:nvSpPr>
          <p:cNvPr id="5" name="end-ring-4"/>
          <p:cNvSpPr/>
          <p:nvPr/>
        </p:nvSpPr>
        <p:spPr>
          <a:xfrm>
            <a:off x="5257800" y="1600200"/>
            <a:ext cx="4846320" cy="4846320"/>
          </a:xfrm>
          <a:prstGeom prst="ellipse">
            <a:avLst/>
          </a:prstGeom>
          <a:ln w="15875">
            <a:solidFill>
              <a:srgbClr val="0E8F7E">
                <a:alpha val="44000"/>
              </a:srgbClr>
            </a:solidFill>
            <a:prstDash val="solid"/>
          </a:ln>
        </p:spPr>
      </p:sp>
      <p:sp>
        <p:nvSpPr>
          <p:cNvPr id="6" name="end-outlet"/>
          <p:cNvSpPr/>
          <p:nvPr/>
        </p:nvSpPr>
        <p:spPr>
          <a:xfrm>
            <a:off x="7525512" y="3867912"/>
            <a:ext cx="310896" cy="310896"/>
          </a:xfrm>
          <a:prstGeom prst="ellipse">
            <a:avLst/>
          </a:prstGeom>
          <a:solidFill>
            <a:srgbClr val="1F29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548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Mulai dalam 4 langkah</a:t>
            </a:r>
            <a:endParaRPr lang="en-US" sz="4000" dirty="0"/>
          </a:p>
        </p:txBody>
      </p:sp>
      <p:sp>
        <p:nvSpPr>
          <p:cNvPr id="8" name="start-num-1"/>
          <p:cNvSpPr/>
          <p:nvPr/>
        </p:nvSpPr>
        <p:spPr>
          <a:xfrm>
            <a:off x="548640" y="160020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60020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 dengan akun Anda</a:t>
            </a:r>
            <a:endParaRPr lang="en-US" sz="1800" dirty="0"/>
          </a:p>
        </p:txBody>
      </p:sp>
      <p:sp>
        <p:nvSpPr>
          <p:cNvPr id="11" name="start-num-2"/>
          <p:cNvSpPr/>
          <p:nvPr/>
        </p:nvSpPr>
        <p:spPr>
          <a:xfrm>
            <a:off x="548640" y="22402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24028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Peta atau Laporan, pilih kota</a:t>
            </a:r>
            <a:endParaRPr lang="en-US" sz="1800" dirty="0"/>
          </a:p>
        </p:txBody>
      </p:sp>
      <p:sp>
        <p:nvSpPr>
          <p:cNvPr id="14" name="start-num-3"/>
          <p:cNvSpPr/>
          <p:nvPr/>
        </p:nvSpPr>
        <p:spPr>
          <a:xfrm>
            <a:off x="548640" y="28803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88036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Hubungi calon Panas lewat WhatsApp</a:t>
            </a:r>
            <a:endParaRPr lang="en-US" sz="1800" dirty="0"/>
          </a:p>
        </p:txBody>
      </p:sp>
      <p:sp>
        <p:nvSpPr>
          <p:cNvPr id="17" name="start-num-4"/>
          <p:cNvSpPr/>
          <p:nvPr/>
        </p:nvSpPr>
        <p:spPr>
          <a:xfrm>
            <a:off x="548640" y="352044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520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52044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 hasilnya di Pipeline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389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 akun atau bantuan? Hubungi admin aplikasi.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nter Netral">
  <a:themeElements>
    <a:clrScheme name="Hunter Netral">
      <a:dk1>
        <a:srgbClr val="1F2933"/>
      </a:dk1>
      <a:lt1>
        <a:srgbClr val="FFFFFF"/>
      </a:lt1>
      <a:dk2>
        <a:srgbClr val="475467"/>
      </a:dk2>
      <a:lt2>
        <a:srgbClr val="F3F4F6"/>
      </a:lt2>
      <a:accent1>
        <a:srgbClr val="0E8F7E"/>
      </a:accent1>
      <a:accent2>
        <a:srgbClr val="E8350E"/>
      </a:accent2>
      <a:accent3>
        <a:srgbClr val="F59E0B"/>
      </a:accent3>
      <a:accent4>
        <a:srgbClr val="6B7F91"/>
      </a:accent4>
      <a:accent5>
        <a:srgbClr val="D6EFEA"/>
      </a:accent5>
      <a:accent6>
        <a:srgbClr val="FDE3DC"/>
      </a:accent6>
      <a:hlink>
        <a:srgbClr val="0E8F7E"/>
      </a:hlink>
      <a:folHlink>
        <a:srgbClr val="6B7F91"/>
      </a:folHlink>
    </a:clrScheme>
    <a:fontScheme name="Hunter Netr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 Merchant Hunter: Panduan Pengguna</dc:title>
  <dc:subject>PptxGenJS Presentation</dc:subject>
  <dc:creator>Tim Proyek</dc:creator>
  <cp:lastModifiedBy>Tim Proyek</cp:lastModifiedBy>
  <cp:revision>1</cp:revision>
  <dcterms:created xsi:type="dcterms:W3CDTF">2026-10-25T05:46:20Z</dcterms:created>
  <dcterms:modified xsi:type="dcterms:W3CDTF">2026-10-25T05:46:20Z</dcterms:modified>
</cp:coreProperties>
</file>