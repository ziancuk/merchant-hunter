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"Di mana merchant Hitachi POS berikutnya? Hari ini jawabannya ada di tebakan; dengan POS Merchant Hunter, jawabannya ada di peta."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Tiap kartu adalah tautan ke bagiannya.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konkret dari PRD §1.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Temukan, Nilai, Hubungi. Semua tercatat dan terlihat bersama oleh 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Scheduler jalan 01:00 WIB; pengguna tidak menunggu API pihak ketiga saat membuka halaman.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docs/PRD.md. 29 user story dipetakan ke fitur A–I.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PRD §2. Konversi 3% adalah asumsi awal yang bisa diubah di kalkulator.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PRD §5 dan §8.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Inti: satu PROMPT.md, empat sesi, subagen paralel, review independen sebelum dan sesudah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 adalah cuplikan berkas PROMPT.md yang sebenarnya (bagian 1 dan 2). Bila ingin menambah tangkapan layar sesi Claude Code, tempel di slide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PRD, TRD, DB-SCHEMA, ARCHITECTURE, CONTRACTS, IMPLEMENTATION-PLAN, TEST-PLAN, GIT-WORKFLOW dibuat di Sesi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asli docs/AGENTS-LOG.md. Empat sesi: dokumen, backend + design system, frontend + E2E, refactor + QA + rilis.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AGENTS-LOG.md, TEST-REPORT.md §6, qa-browser-notes.md.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asli git log --graph. Cabang worktree-agent-* adalah agen paralel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lewati intro, hover outlet untuk cincin 2 km, filter provinsi dan skor.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Kartu prospek: skor, rincian alasan, kontak dan tombol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berbasis aturan (bukan ML). Bobot kategori bisa diubah di Master Kategori. Ambang Bidik Utama 75 dari config/hunter.php.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PRD §9(c). Hanya tautan wa.me; manusia yang menekan kirim.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pipeline pada screenshot diatur pada salinan database demo agar kolom terisi, bukan hasil sinkronisasi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Rute: nearest-neighbor + 2-opt, tautan Google Maps multi-titik tanpa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Dasbor: KPI, funnel, penetrasi provinsi. Laporan: tabel lengkap dengan unduh CSV/Excel. Estimasi Dampak &amp; Biaya: asumsi bisa diedit.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ARCHITECTURE.md dan TRD. Detail teknis ada di docs/.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dari TEST-REPORT.md (25 Okt 2026, dijalankan ulang di commit akhir sesi 4). Setelah itu ditambah fitur i18n/Laporan; jalankan ulang composer ci sebelum klaim angka terbaru.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PRD §9(e).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Estimasi Google memakai asumsi sync mingguan; angka pasti dihitung di kalkulator in-app dengan tarif yang diisi sendiri, bukan klaim harga resmi.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keputusan konkret untuk memulai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 bersumber dari PRD, TEST-REPORT, dan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public. Seluruh dokumen ada di folder docs/. Panduan pengguna tersedia sebagai deck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5.xml"/><Relationship Id="rId7" Type="http://schemas.openxmlformats.org/officeDocument/2006/relationships/slide" Target="slide22.xml"/><Relationship Id="rId8" Type="http://schemas.openxmlformats.org/officeDocument/2006/relationships/slide" Target="slide24.xml"/><Relationship Id="rId9" Type="http://schemas.openxmlformats.org/officeDocument/2006/relationships/slide" Target="slide27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0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4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5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6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1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20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image" Target="../media/image-21-1.jpg"/><Relationship Id="rId4" Type="http://schemas.openxmlformats.org/officeDocument/2006/relationships/image" Target="../media/image-21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hyperlink" Target="https://github.com/ziancuk/merchant-hunter" TargetMode="External"/><Relationship Id="rId4" Type="http://schemas.openxmlformats.org/officeDocument/2006/relationships/hyperlink" Target="https://github.com/ziancuk/merchant-hunter/tree/main/doc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080" y="-2011680"/>
            <a:ext cx="6858000" cy="6858000"/>
          </a:xfrm>
          <a:prstGeom prst="ellipse">
            <a:avLst/>
          </a:prstGeom>
          <a:ln w="12700">
            <a:solidFill>
              <a:srgbClr val="2C3E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0" y="-914400"/>
            <a:ext cx="4663440" cy="4663440"/>
          </a:xfrm>
          <a:prstGeom prst="ellipse">
            <a:avLst/>
          </a:prstGeom>
          <a:ln w="12700">
            <a:solidFill>
              <a:srgbClr val="2C3E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CLAUDE CODE · HACKTIV8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05156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 Merchant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2A2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Hunter</a:t>
            </a:r>
            <a:endParaRPr lang="en-US" sz="56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822960" cy="4572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29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3D, skor prospek, pipeline, dan kontak WhatsApp yang tercatat untuk menemukan calon merchant Hitachi POS berikutnya.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45720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1F3158"/>
          </a:solidFill>
          <a:ln w="9525">
            <a:solidFill>
              <a:srgbClr val="3347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4672" y="50749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dummy · 38 provinsi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14600" y="45720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1F3158"/>
          </a:solidFill>
          <a:ln w="9525">
            <a:solidFill>
              <a:srgbClr val="3347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 rb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587752" y="50749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 dalam radius 2 km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97680" y="45720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1F3158"/>
          </a:solidFill>
          <a:ln w="9525">
            <a:solidFill>
              <a:srgbClr val="3347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370832" y="50749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dengan alasan terbaca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Muhamad Fauzian 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608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PT Hitachi Channel Solutions Indonesia · Oktober 2026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26480" y="118872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0" descr="/private/tmp/claude-501/-Users-zian-Documents-PROJECT-pos-merchant-hunter/74e6d19c-bc11-4bab-b5fe-c20c3ce98a31/scratchpad/jpg/01-pe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5486400" cy="3429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126480" y="4892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Tangkapan layar aplikasi berjalan (data demo)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presentasi (klik untuk melompat)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1664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1">
            <a:hlinkClick r:id="rId3" tooltip="" action="ppaction://hlinksldjump"/>
          </p:cNvPr>
          <p:cNvSpPr/>
          <p:nvPr/>
        </p:nvSpPr>
        <p:spPr>
          <a:xfrm>
            <a:off x="1600200" y="1709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Masalah dan solusi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0020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tim sales butuh peta, bukan tebakan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15544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290320000" dist="322580000" dir="324000000000">
              <a:srgbClr val="1B2A4A">
                <a:alpha val="10000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9360" y="1664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>
            <a:hlinkClick r:id="rId4" tooltip="" action="ppaction://hlinksldjump"/>
          </p:cNvPr>
          <p:cNvSpPr/>
          <p:nvPr/>
        </p:nvSpPr>
        <p:spPr>
          <a:xfrm>
            <a:off x="7178040" y="1709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Ringkasan PRD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17804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Tujuan, metrik pilot, batas v1, risiko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2761488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6387064000000" dist="4096766000000" dir="19440000000000000">
              <a:srgbClr val="1B2A4A">
                <a:alpha val="1000000000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" y="2871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>
            <a:hlinkClick r:id="rId5" tooltip="" action="ppaction://hlinksldjump"/>
          </p:cNvPr>
          <p:cNvSpPr/>
          <p:nvPr/>
        </p:nvSpPr>
        <p:spPr>
          <a:xfrm>
            <a:off x="1600200" y="2916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Cara kami membangun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60020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Prompt, dokumen, subagen Claude Code, review, git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26480" y="2761488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08115712800000000" dist="52028928200000000" dir="1.1664e+21">
              <a:srgbClr val="1B2A4A">
                <a:alpha val="100000000000000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309360" y="2871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3">
            <a:hlinkClick r:id="rId6" tooltip="" action="ppaction://hlinksldjump"/>
          </p:cNvPr>
          <p:cNvSpPr/>
          <p:nvPr/>
        </p:nvSpPr>
        <p:spPr>
          <a:xfrm>
            <a:off x="7178040" y="2916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Aplikasi, langkah demi langkah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17804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Peta, skor, kontak sopan, pipeline, rute, laporan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68496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64306955256e+21" dist="660767388140000000000" dir="6.9984e+25">
              <a:srgbClr val="1B2A4A">
                <a:alpha val="1e+24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" y="4078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7">
            <a:hlinkClick r:id="rId7" tooltip="" action="ppaction://hlinksldjump"/>
          </p:cNvPr>
          <p:cNvSpPr/>
          <p:nvPr/>
        </p:nvSpPr>
        <p:spPr>
          <a:xfrm>
            <a:off x="1600200" y="4123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Arsitektur dan mutu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600200" y="4498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kerja, hasil tes, hal yang belum teruji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26480" y="3968496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3566983317512e+25" dist="8.391745829378e+24" dir="4.19904e+30">
              <a:srgbClr val="1B2A4A">
                <a:alpha val="1e+29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309360" y="4078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Text 31">
            <a:hlinkClick r:id="rId8" tooltip="" action="ppaction://hlinksldjump"/>
          </p:cNvPr>
          <p:cNvSpPr/>
          <p:nvPr/>
        </p:nvSpPr>
        <p:spPr>
          <a:xfrm>
            <a:off x="7178040" y="4123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Rencana adopsi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7178040" y="4498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8 minggu, biaya, keputusan yang diminta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5175504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2630068813240236e+29" dist="1.0657517203310059e+29" dir="2.519424e+35">
              <a:srgbClr val="1B2A4A">
                <a:alpha val="1e+34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31520" y="5285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38" name="Text 35">
            <a:hlinkClick r:id="rId9" tooltip="" action="ppaction://hlinksldjump"/>
          </p:cNvPr>
          <p:cNvSpPr/>
          <p:nvPr/>
        </p:nvSpPr>
        <p:spPr>
          <a:xfrm>
            <a:off x="1600200" y="5330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Tanya jawab dan repo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1600200" y="5705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umum, tautan GitHub, folder docs/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MASALAH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Mencari merchant baru masih seperti menebak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41401873928151e+33" dist="1.3535046848203775e+33" dir="1.5116544e+40">
              <a:srgbClr val="1B2A4A">
                <a:alpha val="1e+3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600200"/>
            <a:ext cx="2651760" cy="73152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Tidak ada gambaran peta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kita tidak pernah dilihat bersama bisnis di sekitarnya. Area yang belum tergarap sulit terlihat.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364992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6.875803798887518e+37" dist="1.7189509497218795e+37" dir="9.069926400000001e+44">
              <a:srgbClr val="1B2A4A">
                <a:alpha val="9.999999999999999e+43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64992" y="1600200"/>
            <a:ext cx="2651760" cy="73152"/>
          </a:xfrm>
          <a:prstGeom prst="rect">
            <a:avLst/>
          </a:prstGeom>
          <a:solidFill>
            <a:srgbClr val="A66A0A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1920240"/>
            <a:ext cx="548640" cy="548640"/>
          </a:xfrm>
          <a:prstGeom prst="ellipse">
            <a:avLst/>
          </a:prstGeom>
          <a:solidFill>
            <a:srgbClr val="A66A0A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9359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593592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 sendiri-sendiri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593592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sales mencari dengan caranya sendiri. Tidak ada nilai yang menunjukkan mana yang paling layak dihubungi dulu.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181344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8.732270824587148e+41" dist="2.183067706146787e+41" dir="5.44195584e+49">
              <a:srgbClr val="1B2A4A">
                <a:alpha val="1e+49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81344" y="1600200"/>
            <a:ext cx="2651760" cy="73152"/>
          </a:xfrm>
          <a:prstGeom prst="rect">
            <a:avLst/>
          </a:prstGeom>
          <a:solidFill>
            <a:srgbClr val="0F8B7D"/>
          </a:solidFill>
          <a:ln w="12700">
            <a:solidFill>
              <a:srgbClr val="0F8B7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9944" y="1920240"/>
            <a:ext cx="548640" cy="548640"/>
          </a:xfrm>
          <a:prstGeom prst="ellipse">
            <a:avLst/>
          </a:prstGeom>
          <a:solidFill>
            <a:srgbClr val="0F8B7D"/>
          </a:solidFill>
          <a:ln w="12700">
            <a:solidFill>
              <a:srgbClr val="0F8B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994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09944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Kontak dobel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409944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Rekan lain mungkin sudah menghubungi orang yang sama, dan tidak ada catatan bersama.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997696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1089983947225678e+46" dist="2.7724959868064195e+45" dir="3.2651735040000005e+54">
              <a:srgbClr val="1B2A4A">
                <a:alpha val="9.999999999999999e+53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997696" y="1600200"/>
            <a:ext cx="2651760" cy="73152"/>
          </a:xfrm>
          <a:prstGeom prst="rect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226296" y="1920240"/>
            <a:ext cx="548640" cy="54864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2629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9226296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Hasil tidak terukur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9226296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tidak punya angka: berapa calon per outlet, berapa yang jadi, berapa biayanya.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  <a:effectLst>
            <a:outerShdw sx="100000" sy="100000" kx="0" ky="0" algn="bl" rotWithShape="0" blurRad="1.408427961297661e+50" dist="3.5210699032441527e+49" dir="1.9591041024000004e+59">
              <a:srgbClr val="1B2A4A">
                <a:alpha val="9.999999999999999e+58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 mana merchant Hitachi POS berikutnya? Hari ini jawabannya ada di tebakan. Dengan POS Merchant Hunter, jawabannya ada di peta.”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SOLUSI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Solusinya: satu aplikasi, tiga langkah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35680" cy="35661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7887035108480297e+54" dist="4.471758777120074e+53" dir="1.1754624614400003e+64">
              <a:srgbClr val="1B2A4A">
                <a:alpha val="9.999999999999999e+6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Temukan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3154680"/>
            <a:ext cx="298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menampilkan semua outlet dan bisnis di sekitarnya, paling jauh 2 km. Pencarian berjalan otomatis tiap malam.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12920" y="1554480"/>
            <a:ext cx="3535680" cy="35661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2716534587769977e+58" dist="5.679133646942494e+57" dir="7.052774768640002e+68">
              <a:srgbClr val="1B2A4A">
                <a:alpha val="9.999999999999999e+68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8724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8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8724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Nilai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87240" y="3154680"/>
            <a:ext cx="298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calon diberi skor 0 sampai 100 beserta alasannya, jadi sales tahu siapa yang dihubungi lebih dulu.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77200" y="1554480"/>
            <a:ext cx="3535680" cy="35661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8849998926467873e+62" dist="7.212499731616968e+61" dir="4.2316648611840007e+73">
              <a:srgbClr val="1B2A4A">
                <a:alpha val="9.999999999999998e+73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35152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5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35152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Hubungi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351520" y="3154680"/>
            <a:ext cx="298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klik membuka WhatsApp dengan pesan yang sudah terisi. Hasilnya dicatat otomatis di pipeline.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3.66394986366142e+66" dist="9.15987465915355e+65" dir="2.5389989167104004e+78">
              <a:srgbClr val="1B2A4A">
                <a:alpha val="9.999999999999998e+78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Semuanya ada di satu tempat dan bisa dilihat bersama oleh tim: peta, skor, pipeline, rute kunjungan, dasbor, dan laporan.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SOLUSI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 hari bersama aplikasi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6002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653216326850003e+70" dist="1.1633040817125008e+70" dir="1.5233993500262402e+83">
              <a:srgbClr val="1B2A4A">
                <a:alpha val="9.999999999999998e+8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600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Malam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01.00 WIB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28346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mencari bisnis baru di sekitar outlet secara otomatis.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127248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3364992" y="16002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909584735099504e+74" dist="1.477396183774876e+74" dir="9.14039610015744e+87">
              <a:srgbClr val="1B2A4A">
                <a:alpha val="9.999999999999999e+88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64992" y="1600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93592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59359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peta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93592" y="28346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melihat calon paling menarik dan area yang belum tergarap.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43600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6181344" y="16002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7.50517261357637e+78" dist="1.8762931533940924e+78" dir="5.484237660094465e+92">
              <a:srgbClr val="1B2A4A">
                <a:alpha val="9.999999999999998e+93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81344" y="1600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9944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Siang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409944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9944" y="28346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lewat WhatsApp. Aplikasi mencatat siapa dan kapan.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759952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7"/>
          <p:cNvSpPr/>
          <p:nvPr/>
        </p:nvSpPr>
        <p:spPr>
          <a:xfrm>
            <a:off x="8997696" y="16002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9.53156921924199e+82" dist="2.3828923048104974e+82" dir="3.2905425960566786e+97">
              <a:srgbClr val="1B2A4A">
                <a:alpha val="9.999999999999998e+98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997696" y="1600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A66A0A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26296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Sore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9226296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226296" y="28346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Atasan melihat dasbor dan hasil tim hari itu.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1.2105092908437327e+87" dist="3.0262732271093317e+86" dir="1.9743255576340073e+102">
              <a:srgbClr val="1B2A4A">
                <a:alpha val="9.999999999999998e+103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tidak pernah menunggu pihak ketiga: pencarian sudah dikerjakan malam sebelumnya.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RINGKASAN PRD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 dalam satu halaman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5373467993715405e+91" dist="3.8433669984288512e+90" dir="1.1845953345804043e+107">
              <a:srgbClr val="1B2A4A">
                <a:alpha val="9.999999999999998e+108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Untuk siapa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2960" y="2423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peran: “manajemen” (kepala cabang, manajer sales, analis)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akun, hak sama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aktivitas tercatat: siapa, kapan, apa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29768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9524304352018566e+95" dist="4.8810760880046414e+94" dir="7.107572007482426e+111">
              <a:srgbClr val="1B2A4A">
                <a:alpha val="9.999999999999997e+113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1554480"/>
            <a:ext cx="3566160" cy="73152"/>
          </a:xfrm>
          <a:prstGeom prst="rect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dibangun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572000" y="2423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 outlet dan prospek (radius 2 km)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0–100 dengan alasan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WhatsApp, rute kunjungan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Dasbor, laporan CSV/Excel, estimasi biaya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otomatis tiap malam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04672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4795866527063578e+99" dist="6.198966631765894e+98" dir="4.2645432044894554e+116">
              <a:srgbClr val="1B2A4A">
                <a:alpha val="9.999999999999998e+118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46720" y="1554480"/>
            <a:ext cx="3566160" cy="73152"/>
          </a:xfrm>
          <a:prstGeom prst="rect">
            <a:avLst/>
          </a:prstGeom>
          <a:solidFill>
            <a:srgbClr val="A66A0A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kerja data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321040" y="2423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(gratis), simulasi (demo), Google (opsional)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outlet dummy di 38 provinsi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simulasi selalu berlabel “Simulasi”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asli masuk lewat impor CSV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RINGKASAN PRD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Seperti apa “berhasil” di pilot 90 hari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149075048937074e+103" dist="7.872687622342685e+102" dir="2.5587259226936733e+121">
              <a:srgbClr val="1B2A4A">
                <a:alpha val="9.999999999999997e+123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25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calon aktif per outlet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9993253121500844e+107" dist="9.998313280375211e+106" dir="1.535235553616204e+126">
              <a:srgbClr val="1B2A4A">
                <a:alpha val="9.999999999999997e+128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−50%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riset sales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4672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079143146430607e+111" dist="1.2697857866076517e+111" dir="9.211413321697224e+130">
              <a:srgbClr val="1B2A4A">
                <a:alpha val="9.999999999999997e+133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2104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66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 ganda tanpa peringatan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6.450511795966871e+115" dist="1.6126279489917177e+115" dir="5.526847993018334e+135">
              <a:srgbClr val="1B2A4A">
                <a:alpha val="9.999999999999998e+138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3%</a:t>
            </a:r>
            <a:endParaRPr lang="en-US" sz="4600" dirty="0"/>
          </a:p>
        </p:txBody>
      </p:sp>
      <p:sp>
        <p:nvSpPr>
          <p:cNvPr id="23" name="Text 20"/>
          <p:cNvSpPr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Dihubungi → Deal (asumsi awal)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8.192149980877925e+119" dist="2.0480374952194813e+119" dir="3.3161087958110005e+140">
              <a:srgbClr val="1B2A4A">
                <a:alpha val="9.999999999999999e+143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Rp0</a:t>
            </a:r>
            <a:endParaRPr lang="en-US" sz="4600" dirty="0"/>
          </a:p>
        </p:txBody>
      </p:sp>
      <p:sp>
        <p:nvSpPr>
          <p:cNvPr id="26" name="Text 23"/>
          <p:cNvSpPr/>
          <p:nvPr/>
        </p:nvSpPr>
        <p:spPr>
          <a:xfrm>
            <a:off x="457200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data dengan OpenStreetMap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046720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0404030475714965e+124" dist="2.6010076189287412e+123" dir="1.9896652774866004e+145">
              <a:srgbClr val="1B2A4A">
                <a:alpha val="9.999999999999998e+148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32104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80%</a:t>
            </a:r>
            <a:endParaRPr lang="en-US" sz="4600" dirty="0"/>
          </a:p>
        </p:txBody>
      </p:sp>
      <p:sp>
        <p:nvSpPr>
          <p:cNvPr id="29" name="Text 26"/>
          <p:cNvSpPr/>
          <p:nvPr/>
        </p:nvSpPr>
        <p:spPr>
          <a:xfrm>
            <a:off x="832104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 aktif tiap minggu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1.3213118704158005e+128" dist="3.303279676039501e+127" dir="1.1937991664919603e+150">
              <a:srgbClr val="1B2A4A">
                <a:alpha val="9.999999999999999e+153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angka dibaca langsung dari Dasbor dan halaman Estimasi Dampak &amp; Biaya. Sumber: docs/PRD.md §2.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RINGKASAN PRD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Batas versi 1 dan risikonya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6780660754280665e+132" dist="4.195165188570166e+131" dir="7.162794998951762e+154">
              <a:srgbClr val="1B2A4A">
                <a:alpha val="1e+159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Termasuk v1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banyak akun, satu peran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 dan intro globe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Skor, kartu prospek, WhatsApp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Kanban dan tabel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Rute kunjungan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Dasbor, laporan, estimasi biaya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dan pencarian malam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9768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1311439157936445e+136" dist="5.327859789484111e+135" dir="4.297676999371057e+159">
              <a:srgbClr val="1B2A4A">
                <a:alpha val="9.999999999999999e+163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Belum termasuk v1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7200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langsung ke database Hitachi POS (v1: impor CSV)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WhatsApp otomatis atau massal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peran dan hak akses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mobile native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Prediksi berbasis ML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2.7065527730579285e+140" dist="6.766381932644821e+139" dir="2.5786061996226343e+164">
              <a:srgbClr val="1B2A4A">
                <a:alpha val="1e+169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Risiko dan jawabannya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2104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Lisensi Google → hanya place_id disimpan, Google nonaktif bawaan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layanan gratis → antrean, cache, data simulasi cadangan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OSM tipis → ditampilkan apa adanya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WhatsApp → jeda kontak, opt-out, tanpa kirim otomatis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PDP → data bisnis publik, tinjau legal dulu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CARA KAMI MEMBANGUN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Spec-first, diorkestrasi Claude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3.4373220217835694e+144" dist="8.593305054458923e+143" dir="1.5471637197735807e+169">
              <a:srgbClr val="1B2A4A">
                <a:alpha val="9.999999999999998e+17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46304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PROMPT.md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724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spesifikasi lengkap: konteks, aturan keras, stack, fitur, urutan build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05072" y="22402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29768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3653989676651333e+148" dist="1.0913497419162833e+148" dir="9.282982318641485e+173">
              <a:srgbClr val="1B2A4A">
                <a:alpha val="9.999999999999998e+178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21208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 dulu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52628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TRD, skema DB, kontrak API, rencana, tes (tag v0.1-docs)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54112" y="22402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804672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54405668893472e+152" dist="1.38601417223368e+152" dir="5.569789391184891e+178">
              <a:srgbClr val="1B2A4A">
                <a:alpha val="9.999999999999998e+183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9611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dokumen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27532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 read-only menemukan 19 masalah sebelum kode ditulis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3794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7.040951994947093e+156" dist="1.7602379987367734e+156" dir="3.3418736347109347e+183">
              <a:srgbClr val="1B2A4A">
                <a:alpha val="9.999999999999998e+188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1463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paralel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7724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penulis di git worktree terpisah; orkestrator menggabung dan menguji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05072" y="4434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4297680" y="3794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8.942009033582808e+160" dist="2.235502258395702e+160" dir="2.0051241808265608e+188">
              <a:srgbClr val="1B2A4A">
                <a:alpha val="9.999999999999998e+193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52120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dan keamanan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452628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kode, uji performa, QA browser, audit keamanan, refactoring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7754112" y="4434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1" name="Shape 38"/>
          <p:cNvSpPr/>
          <p:nvPr/>
        </p:nvSpPr>
        <p:spPr>
          <a:xfrm>
            <a:off x="8046720" y="3794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1356351472650167e+165" dist="2.8390878681625417e+164" dir="1.2030745084959364e+193">
              <a:srgbClr val="1B2A4A">
                <a:alpha val="9.999999999999999e+198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75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89611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Rilis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827532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panduan, tag v1.0.0, pemindaian secret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slide berikut menampilkan bukti asli dari repo.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PROSES 1/5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Prompt: spesifikasi master yang kami tulis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484632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1.4422566370265713e+169" dist="3.605641592566428e+168" dir="7.218447050975619e+197">
              <a:srgbClr val="1B2A4A">
                <a:alpha val="9.999999999999998e+203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ev-promp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754880" cy="4160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824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asli PROMPT.md (baris 1–25).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kami tulis di prompt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83680" y="19659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Peran: engineer senior sekaligus orkestrator tim subagen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Konteks: tema wajib, tenggat, lima hal yang dikumpulkan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keras: data dummy, tanpa secret, badge “Simulasi”, kepatuhan Google Places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9 kelompok fitur, urutan build, strategi tes, alur git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“Jangan klaim sudah jalan sebelum diverifikasi”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583680" y="49834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1.8316659290237455e+173" dist="4.579164822559364e+172" dir="4.3310682305853715e+202">
              <a:srgbClr val="1B2A4A">
                <a:alpha val="9.999999999999999e+208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12280" y="5029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Tiap sesi baru cukup berkata: “Baca PROMPT.md dan kerjakan Sesi N”.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PROSES 2/5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prompt ke PRD dan dokumen pendukung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6400800" cy="4458919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2.326215729860157e+177" dist="5.815539324650392e+176" dir="2.598640938351223e+207">
              <a:srgbClr val="1B2A4A">
                <a:alpha val="9.999999999999998e+213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ev-p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309360" cy="43674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031687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asli docs/PRD.md §1–§2.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237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 yang dihasilkan di Sesi 1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223760" y="1965960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9542939769223992e+181" dist="7.385734942305998e+180" dir="1.5591845630107338e+212">
              <a:srgbClr val="1B2A4A">
                <a:alpha val="9.999999999999998e+218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60920" y="1965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326880" y="196596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masalah, metrik, user story, adopsi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223760" y="2532888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751953350691447e+185" dist="9.379883376728618e+184" dir="9.355107378064403e+216">
              <a:srgbClr val="1B2A4A">
                <a:alpha val="9.999999999999998e+223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360920" y="2532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326880" y="25328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teknis, lisensi data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223760" y="3099816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764980755378138e+189" dist="1.1912451888445345e+189" dir="5.613064426838642e+221">
              <a:srgbClr val="1B2A4A">
                <a:alpha val="9.999999999999997e+228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360920" y="3099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DB-SCHEMA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326880" y="30998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 beku, 12 migrasi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223760" y="3666744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6.051525559330235e+193" dist="1.5128813898325588e+193" dir="3.367838656103185e+226">
              <a:srgbClr val="1B2A4A">
                <a:alpha val="9.999999999999997e+233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7360920" y="36667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326880" y="36667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API dan tipe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223760" y="4233672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7.685437460349399e+197" dist="1.9213593650873497e+197" dir="2.020703193661911e+231">
              <a:srgbClr val="1B2A4A">
                <a:alpha val="9.999999999999996e+238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360920" y="4233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326880" y="42336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dan alur data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223760" y="4800600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9.760505574643736e+201" dist="2.440126393660934e+201" dir="1.2124219161971466e+236">
              <a:srgbClr val="1B2A4A">
                <a:alpha val="9.999999999999996e+243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7360920" y="4800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IMPLEMENTATION-PLAN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326880" y="48006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milestone, agen, kepemilikan berkas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223760" y="5367528"/>
            <a:ext cx="43891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2395842079797546e+206" dist="3.0989605199493864e+205" dir="7.27453149718288e+240">
              <a:srgbClr val="1B2A4A">
                <a:alpha val="9.999999999999995e+248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7360920" y="5367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TEST-PLAN · GIT-WORKFLOW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9326880" y="53675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tes, branch, PR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223760" y="5989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docs/: 15 berkas, ±2.100 baris.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PROSES 3/5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Subagen: siapa mengerjakan apa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6858000" cy="4380687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1.5742719441342882e+210" dist="3.9356798603357206e+209" dir="4.364718898309728e+245">
              <a:srgbClr val="1B2A4A">
                <a:alpha val="9.999999999999995e+253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ev-agen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766560" cy="42892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953455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asli docs/AGENTS-LOG.md (Sesi 1).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80960" y="14630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9993253690505461e+214" dist="4.9983134226263654e+213" dir="2.6188313389858368e+250">
              <a:srgbClr val="1B2A4A">
                <a:alpha val="9.999999999999996e+258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1812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818120" y="2194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kerja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692640" y="1463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5391432186941937e+218" dist="6.347858046735484e+217" dir="1.571298803391502e+255">
              <a:srgbClr val="1B2A4A">
                <a:alpha val="9.999999999999996e+263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829800" y="1572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9829800" y="2194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 tercatat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68096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 kerja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680960" y="32918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dan review: read-only, hasilnya laporan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Penulis kode: maksimal 3 paralel, masing-masing di worktree git sendiri dan menulis tesnya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Orkestrator menggabung, memperbaiki integrasi, menjalankan tes penuh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masalah dicatat, tidak disembunyikan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PROSES 4/5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independen sebelum dan sesudah kode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224711887741626e+222" dist="8.061779719354066e+221" dir="9.427792820349012e+259">
              <a:srgbClr val="1B2A4A">
                <a:alpha val="9.999999999999996e+268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017520" y="1691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di dokumen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kritis, 11 mayor, 6 minor. Contoh kritis: “white space” mustahil dihitung; nomor simulasi bisa di-WhatsApp. Diperbaiki sebelum kode ditulis.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095384097431865e+226" dist="1.0238460243579663e+226" dir="5.656675692209407e+264">
              <a:srgbClr val="1B2A4A">
                <a:alpha val="9.999999999999995e+273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5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66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9 · 14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595360" y="1691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backend (bug · mayor · minor)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bug error 500, indeks database, cache pengaturan, balapan batas kontak, ekspor CSV lambat.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201137803738469e+230" dist="1.3002844509346172e+230" dir="3.3940054153256444e+269">
              <a:srgbClr val="1B2A4A">
                <a:alpha val="9.999999999999996e+278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14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301752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di browser (mayor · minor)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bug kritis. Panel filter ponsel, label Inggris, “0 hari lalu”: diperbaiki dan diberi tes.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126480" y="37490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6.605445010747855e+234" dist="1.6513612526869638e+234" dir="2.0364032491953868e+274">
              <a:srgbClr val="1B2A4A">
                <a:alpha val="9.999999999999996e+283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35508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· 2 · 8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859536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keamanan (kritis · mayor · minor)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5508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kini aktif. Pemindaian secret di seluruh riwayat git: 0 temuan.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8.388915163649776e+238" dist="2.097228790912444e+238" dir="1.221841949517232e+279">
              <a:srgbClr val="1B2A4A">
                <a:alpha val="9.999999999999996e+288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refactoring terukur: ekspor CSV 0,80 → 0,08 detik (10× lebih cepat); bundel awal 525 → 284 kB (−46%).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PROSES 5/5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Riwayat git: cabang, merge, dan tag rilis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5943600" cy="4665878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1.0653922257835217e+243" dist="2.663480564458804e+242" dir="7.331051697103393e+283">
              <a:srgbClr val="1B2A4A">
                <a:alpha val="9.999999999999996e+293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ev-gi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852160" cy="45744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23864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asli `git log --graph --oneline`.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Rilis bertanda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858000" y="2084832"/>
            <a:ext cx="256032" cy="256032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86016" y="2359152"/>
            <a:ext cx="0" cy="548640"/>
          </a:xfrm>
          <a:prstGeom prst="line">
            <a:avLst/>
          </a:prstGeom>
          <a:noFill/>
          <a:ln w="19050">
            <a:solidFill>
              <a:srgbClr val="DAD3C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v0.1-docs 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Okt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315200" y="2304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TRD, arsitektur, kontrak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0" y="2862072"/>
            <a:ext cx="256032" cy="256032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86016" y="3136392"/>
            <a:ext cx="0" cy="548640"/>
          </a:xfrm>
          <a:prstGeom prst="line">
            <a:avLst/>
          </a:prstGeom>
          <a:noFill/>
          <a:ln w="19050">
            <a:solidFill>
              <a:srgbClr val="DAD3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1520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v0.2-backend 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Okt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315200" y="3081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provider, scheduler, domain, design system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858000" y="3639312"/>
            <a:ext cx="256032" cy="256032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86016" y="3913632"/>
            <a:ext cx="0" cy="548640"/>
          </a:xfrm>
          <a:prstGeom prst="line">
            <a:avLst/>
          </a:prstGeom>
          <a:noFill/>
          <a:ln w="19050">
            <a:solidFill>
              <a:srgbClr val="DAD3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15200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v0.3-app 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Okt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31520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peta, pipeline, dasbor, E2E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858000" y="4416552"/>
            <a:ext cx="256032" cy="256032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1520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Okt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315200" y="4636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refactor, QA, README, slide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48640" y="52578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1.3530481267450725e+247" dist="3.3826203168626813e+246" dir="4.3986310182620354e+288">
              <a:srgbClr val="1B2A4A">
                <a:alpha val="9.999999999999997e+298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commit per 27 Okt 2026. Setelah v1.0.0: peta terang, halaman Laporan, dua bahasa ID/EN.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Peta: semua calon dalam satu pandangan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74066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1.718371120966242e+251" dist="4.295927802415605e+250" dir="2.6391786109572213e+293">
              <a:srgbClr val="1B2A4A">
                <a:alpha val="9.999999999999997e+303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01-pet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Tangkapan layar aplikasi. Data pada gambar adalah data contoh.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229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membaca peta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229600" y="20025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2093976"/>
            <a:ext cx="128016" cy="12801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putih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Hitachi POS yang sudah ada.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0" y="2660904"/>
            <a:ext cx="310896" cy="310896"/>
          </a:xfrm>
          <a:prstGeom prst="ellipse">
            <a:avLst/>
          </a:prstGeom>
          <a:solidFill>
            <a:srgbClr val="E8350E"/>
          </a:solidFill>
          <a:ln w="12700">
            <a:solidFill>
              <a:srgbClr val="E8350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Merah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68680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Bidik Utama: calon paling menarik.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229600" y="331927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0" y="3282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Kuning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686800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Menjanjikan: layak dicoba.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229600" y="3977640"/>
            <a:ext cx="310896" cy="310896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0" y="3941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Hijau tosca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68680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Berpotensi: peluang sedang.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229600" y="4636008"/>
            <a:ext cx="310896" cy="310896"/>
          </a:xfrm>
          <a:prstGeom prst="ellipse">
            <a:avLst/>
          </a:prstGeom>
          <a:solidFill>
            <a:srgbClr val="6B7F91"/>
          </a:solidFill>
          <a:ln w="12700">
            <a:solidFill>
              <a:srgbClr val="6B7F9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686800" y="4599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Abu-abu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686800" y="4873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Pantau: prioritas rendah.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229600" y="5349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Prospek · Heatmap · White Space · Cakupan 2 km. Ctrl/Cmd+K membuka pencarian cepat.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Klik satu titik, lihat kartunya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70408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2.1823313236271275e+255" dist="5.455828309067819e+254" dir="1.5835071665743328e+298">
              <a:srgbClr val="1B2A4A">
                <a:alpha val="Infinity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03-draw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343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72065" y="2148840"/>
            <a:ext cx="365760" cy="36576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72065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675132" y="2583180"/>
            <a:ext cx="365760" cy="36576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75132" y="25831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75132" y="5102352"/>
            <a:ext cx="365760" cy="36576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7513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" y="5916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kartu prospek (data simulasi, berlabel “Simulasi”).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63840" y="155448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7715607810064518e+259" dist="6.928901952516129e+258" dir="9.501042999445996e+302">
              <a:srgbClr val="1B2A4A">
                <a:alpha val="Infinity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92440" y="178308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92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73252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Skor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8092440" y="2304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0 sampai 100. Makin tinggi, makin layak dihubungi.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863840" y="30632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519882191878194e+263" dist="8.799705479695485e+262" dir="5.700625799667598e+307">
              <a:srgbClr val="1B2A4A">
                <a:alpha val="Infinity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92440" y="329184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92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732520" y="3264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Alasan skor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809244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faktor yang membuat skor naik atau turun, lengkap dengan angkanya.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863840" y="45720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4.470250383685306e+267" dist="1.1175625959213265e+267" dir="Infinity">
              <a:srgbClr val="1B2A4A">
                <a:alpha val="Infinity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092440" y="480060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0924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732520" y="4773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Kontak</a:t>
            </a:r>
            <a:endParaRPr lang="en-US" sz="1700" dirty="0"/>
          </a:p>
        </p:txBody>
      </p:sp>
      <p:sp>
        <p:nvSpPr>
          <p:cNvPr id="35" name="Text 31"/>
          <p:cNvSpPr/>
          <p:nvPr/>
        </p:nvSpPr>
        <p:spPr>
          <a:xfrm>
            <a:off x="8092440" y="5321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Telepon, alamat, rating. Geser ke bawah untuk tombol WhatsApp.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membaca skor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5.6772179872803385e+271" dist="1.4193044968200846e+271" dir="Infinity">
              <a:srgbClr val="1B2A4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554480"/>
            <a:ext cx="109728" cy="1737360"/>
          </a:xfrm>
          <a:prstGeom prst="rect">
            <a:avLst/>
          </a:prstGeom>
          <a:solidFill>
            <a:srgbClr val="E8350E"/>
          </a:solidFill>
          <a:ln w="12700">
            <a:solidFill>
              <a:srgbClr val="E835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Bidik Utama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35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– 100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lebih dulu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64992" y="1554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7.21006684384603e+275" dist="1.8025167109615074e+275" dir="Infinity">
              <a:srgbClr val="1B2A4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64992" y="1554480"/>
            <a:ext cx="10972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85032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Menjanjikan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685032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– 74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368503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Layak dicoba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81344" y="1554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9.156784891684457e+279" dist="2.2891962229211143e+279" dir="Infinity">
              <a:srgbClr val="1B2A4A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81344" y="1554480"/>
            <a:ext cx="109728" cy="17373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01384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Berpotensi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01384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– 54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501384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ada waktu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97696" y="15544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1629116812439261e+284" dist="2.9072792031098153e+283" dir="Infinity">
              <a:srgbClr val="1B2A4A">
                <a:alpha val="Infinity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97696" y="1554480"/>
            <a:ext cx="109728" cy="1737360"/>
          </a:xfrm>
          <a:prstGeom prst="rect">
            <a:avLst/>
          </a:prstGeom>
          <a:solidFill>
            <a:srgbClr val="6B7F91"/>
          </a:solidFill>
          <a:ln w="12700">
            <a:solidFill>
              <a:srgbClr val="6B7F9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17736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Pantau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317736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F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34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9317736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rendah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Skor dihitung dari 6 hal (total 100 poin)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8640" y="4160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4768978351797863e+288" dist="3.6922445879494656e+287" dir="Infinity">
              <a:srgbClr val="1B2A4A">
                <a:alpha val="Infinity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7724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Kecocokan jenis usaha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2926080" y="41605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poin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4297680" y="4160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1.8756602506783286e+292" dist="4.6891506266958215e+291" dir="Infinity">
              <a:srgbClr val="1B2A4A">
                <a:alpha val="Infinity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52628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dan ulasan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675120" y="41605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poin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046720" y="4160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2.3820885183614773e+296" dist="5.955221295903693e+295" dir="Infinity">
              <a:srgbClr val="1B2A4A">
                <a:alpha val="Infinity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27532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Dekat outlet kita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10424160" y="41605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poin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48640" y="50749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025252418319076e+300" dist="7.56313104579769e+299" dir="Infinity">
              <a:srgbClr val="1B2A4A">
                <a:alpha val="Infinity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7724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yang ramai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2926080" y="5074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poin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4297680" y="50749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3.842070571265227e+304" dist="9.605176428163068e+303" dir="Infinity">
              <a:srgbClr val="1B2A4A">
                <a:alpha val="Infinity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52628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buka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6675120" y="5074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poin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8046720" y="50749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1.2198574063767096e+308" dir="Infinity">
              <a:srgbClr val="1B2A4A">
                <a:alpha val="Infinity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827532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 lengkap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10424160" y="5074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poin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Menghubungi dengan sopan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Pesan sudah terisi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3154680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per kategori, bisa diedit sebelum dikirim. Tombol aktif hanya bila ada nomor.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12920" y="155448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8724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8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8724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Cegah kontak dobel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87240" y="3154680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Muncul bila rekan sudah menghubungi dalam 7 hari terakhir: siapa dan kapan.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77200" y="1554480"/>
            <a:ext cx="3535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351520" y="1828800"/>
            <a:ext cx="640080" cy="64008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5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351520" y="26060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Jangan hubungi lagi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351520" y="3154680"/>
            <a:ext cx="298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Tandai calon yang menolak. Tombol WhatsApp-nya hilang permanen.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8006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2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hari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82296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jeda minimal antara dua kontak ke calon yang sama (bisa diatur admin)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297680" y="480060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572000" y="48920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data bisnis yang dipublikasikan sumbernya; sumber ditampilkan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pengiriman otomatis atau massal: manusia yang menekan kirim di WhatsApp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menyebut pengirim dan memberi jalan keluar “balas STOP”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Pantau perjalanan tiap calon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74066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04-kanba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→ Dihubungi → Demo → Deal / Ditolak. Status pada data demo diatur manual untuk ilustrasi.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229600" y="1463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Seret kartu ke kolom baru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29600" y="1965960"/>
            <a:ext cx="3429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mencatat siapa yang memindahkan dan kapan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Tersedia tampilan tabel dan aksi massal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Alasan penolakan terstandar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Peringatan bila calon sudah dihubungi rekan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Calon “jangan hubungi lagi” tidak muncul di rekomendasi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Susun rute kunjungan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6766560" cy="4263390"/>
          </a:xfrm>
          <a:prstGeom prst="roundRect">
            <a:avLst>
              <a:gd name="adj" fmla="val 128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07-ru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675120" cy="4171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83615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 rute dengan urutan, jarak total, dan tombol Google Maps.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89520" y="15544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18120" y="178308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18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458200" y="1755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Pilih calon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818120" y="2304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Centang 2 sampai 30 calon di peta atau di tabel.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89520" y="30632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818120" y="329184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181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4582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Susun rute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mengurutkan agar perjalanan paling pendek.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89520" y="45720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818120" y="4800600"/>
            <a:ext cx="457200" cy="45720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181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458200" y="4773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Buka di Maps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7818120" y="5321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tombol membuka Google Maps, lalu ikuti petunjuk arah.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Angka untuk manajemen: dasbor dan laporan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41732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pic>
        <p:nvPicPr>
          <p:cNvPr id="13" name="Image 0" descr="/private/tmp/claude-501/-Users-zian-Documents-PROJECT-pos-merchant-hunter/74e6d19c-bc11-4bab-b5fe-c20c3ce98a31/scratchpad/jpg/05-dashboa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120640" cy="3200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17920" y="141732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pic>
        <p:nvPicPr>
          <p:cNvPr id="15" name="Image 1" descr="/private/tmp/claude-501/-Users-zian-Documents-PROJECT-pos-merchant-hunter/74e6d19c-bc11-4bab-b5fe-c20c3ce98a31/scratchpad/jpg/07-lapora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63040"/>
            <a:ext cx="5120640" cy="3200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Dasbor: KPI, funnel, penetrasi per provinsi, kesehatan pencarian malam (data demo).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6364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Laporan: tabel lengkap, urut dan saring, unduh CSV atau Excel sesuai filter.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AE1"/>
          </a:solidFill>
          <a:ln w="9525">
            <a:solidFill>
              <a:srgbClr val="EFEAE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Estimasi Dampak &amp; Biaya membandingkan Google Places berbayar dengan OpenStreetMap Rp0. Semua asumsi bisa diedit.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ARSITEKTUR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 sederhana, bisa jalan offline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F7A6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1755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(Vue 3 + Inertia)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2176272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dan deck.gl untuk peta 3D, Tailwind, TypeScript. Bahasa Indonesia dan English.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1755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12 (PHP 8.2)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617720" y="2176272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Action → Service. Login, rate limit, CSP. Satu peran, banyak akun.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321040" y="16459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66A0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03920" y="1755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6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503920" y="2176272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bawaan, kompatibel MySQL dan PostgreSQL. Jarak dihitung dengan bounding box dan haversine.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3995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Keamanan dan kepatuhan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1520" y="4416552"/>
            <a:ext cx="2926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terenkripsi, CSRF, CSP aktif, tanpa secret di git, badge Simulasi, hanya place_id Google yang disimpan.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3484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0F8B7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17720" y="3995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Pencarian malam 01.00 WIB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617720" y="4416552"/>
            <a:ext cx="2926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outlet: cari, hilangkan duplikat, deteksi baru buka dan tutup, ulangi bila gagal, catat riwayat.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321040" y="38862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5B6B8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503920" y="3995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Sumber data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503920" y="4416552"/>
            <a:ext cx="2926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Overpass (Rp0), MockProvider (simulasi, offline), Google Places (opsional, nonaktif bawaan), Nominatim untuk alamat.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840480" y="2377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726680" y="2377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897880" y="3474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726680" y="46177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MUTU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Hasil tes dan hal yang belum teruji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8580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backend (Pest)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1554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2044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299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52044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frontend (Vitest)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5508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6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35508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E2E, aksesibilitas, keamanan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52560" y="1554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8972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18972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terdeteksi di riwayat git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92608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Sudah diverifikasi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77240" y="352044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memuat 14,6 ribu titik dalam ±3 detik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Aksesibilitas (axe) di 12 halaman: tanpa pelanggaran serius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Maksimal 7 query per request, tanpa N+1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format, dan build produksi hijau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dari clone bersih mengikuti README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72200" y="292608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A66A0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6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Belum teruji (kami akui)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400800" y="352044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Kecepatan peta di GPU nyata (diukur di rasterisasi CPU)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nyata ke Overpass dan Google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dan PostgreSQL (baru SQLite)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Safari, Firefox, pembaca layar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baris backend dan job CI GitHub Actions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RENCANA ADOPSI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8 minggu di 1–2 provinsi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Siapkan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CSV outlet asli, cek geocoding, sepakati kebijakan retensi dengan legal.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96512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1–6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Jalankan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572000" y="2606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malam berjalan, sales memakai harian, metrik ditinjau tiap minggu.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45552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2104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7–8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Putuskan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321040" y="2606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terhadap metrik, lalu keputusan perluasan.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Skala pilot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7724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outlet, 4–6 akun manajemen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server kecil (2 vCPU, 4 GB), HTTPS internal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lewat VPN atau SSO kantor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2200" y="4114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outlet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640080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pilot: ekspor CSV dari Hitachi POS lalu impor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pernah mengakses database POS langsung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atribut minimum: nama, alamat, koordinat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RENCANA ADOPSI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Biaya data dan nilai yang diukur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0F8B7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Biaya data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8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Rp0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2296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OpenStreetMap dan data simulasi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36118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opsional dan nonaktif bawaan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dinyalakan penuh: ±4.900 panggilan pencarian dan ±950 detail per bulan (190 outlet, sync mingguan)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di kota pilot: biaya turun ±90%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diisi sendiri di kalkulator, bukan klaim harga resmi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Nilai yang diukur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9516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Calon per outlet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95160" y="2587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ditemukan, aktif, dan panas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46520" y="3063240"/>
            <a:ext cx="365760" cy="365760"/>
          </a:xfrm>
          <a:prstGeom prst="ellipse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9516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 riset sales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95160" y="3319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survei vs sesudah pilot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46520" y="3794760"/>
            <a:ext cx="365760" cy="365760"/>
          </a:xfrm>
          <a:prstGeom prst="ellipse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9516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Konversi per tahap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95160" y="4050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Dihubungi → Demo → Deal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46520" y="4526280"/>
            <a:ext cx="365760" cy="365760"/>
          </a:xfrm>
          <a:prstGeom prst="ellipse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99516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Penetrasi provinsi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95160" y="4782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dibagi calon aktif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46520" y="5257800"/>
            <a:ext cx="365760" cy="365760"/>
          </a:xfrm>
          <a:prstGeom prst="ellipse">
            <a:avLst/>
          </a:prstGeom>
          <a:solidFill>
            <a:srgbClr val="0F7A6E"/>
          </a:solidFill>
          <a:ln w="12700">
            <a:solidFill>
              <a:srgbClr val="0F7A6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4652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9951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per calon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995160" y="5513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Google dipakai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LANGKAH BERIKUTNYA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Permintaan kami dan peta jalannya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Keputusan yang diminta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2240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pilot 1–2 provinsi selama 6–8 minggu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8760" y="3154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 PIC data untuk ekspor CSV outlet asli dari Hitachi POS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08760" y="40690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Jadwalkan tinjauan legal (UU PDP dan retensi data)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08760" y="4983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 2 sales sebagai pengguna awal dan sediakan server kecil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7920" y="15544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Peta jalan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49224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863840" y="2331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outlet asli lewat CSV, ukur metrik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Pasca-pilot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863840" y="32461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sinkronisasi terautentikasi dari Hitachi POS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92240" y="4160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Lanjutan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863840" y="41605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berbeda, SSO, perluasan provinsi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Opsional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63840" y="5074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terbatas di wilayah pilot untuk melengkapi rating dan telepon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TANYA JAWAB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Pertanyaan yang mungkin muncul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087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Apakah data di demo asli?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Tidak. Outlet adalah 190 data dummy dan rating/telepon berlabel “Simulasi”. Pilot memakai outlet asli lewat CSV dan data bisnis publik OSM.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5087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Apakah WhatsApp terkirim otomatis?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35508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Tidak. Aplikasi hanya membuka WhatsApp dengan pesan terisi; manusia yang menekan kirim, dan kontak dicatat.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Berapa biaya data?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7724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Rp0 dengan OpenStreetMap. Google bersifat opsional, nonaktif bawaan, dan biayanya bisa dihitung di kalkulator.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2648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Apakah menyentuh database Hitachi POS?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5508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Tidak. Hanya impor CSV berisi nama, alamat, koordinat. Tidak ada kode atau aset dari proyek Hitachi POS asli.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belum teruji?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7724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Kecepatan di GPU nyata, pencarian nyata ke Overpass/Google, dan MySQL/PostgreSQL. Daftarnya ada di TEST-REPORT.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26480" y="4526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5508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4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Berapa lama sampai pilot?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35508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sudah siap didemo. Tinggal data outlet asli dan tinjauan legal sebelum minggu 0.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ln w="9525">
            <a:solidFill>
              <a:srgbClr val="DAD3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4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REPO DAN DOKUMENTASI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Semua kode dan dokumen ada di GitHub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481C"/>
          </a:solidFill>
          <a:ln w="12700">
            <a:solidFill>
              <a:srgbClr val="D9481C"/>
            </a:solidFill>
            <a:prstDash val="solid"/>
          </a:ln>
        </p:spPr>
      </p:sp>
      <p:sp>
        <p:nvSpPr>
          <p:cNvPr id="8" name="Text 6">
            <a:hlinkClick r:id="rId1" tooltip="Ke sampul" action="ppaction://hlinksldjump"/>
          </p:cNvPr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Ke sampu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 Merchant Hunter</a:t>
            </a:r>
            <a:endParaRPr lang="en-US" sz="900" dirty="0"/>
          </a:p>
        </p:txBody>
      </p:sp>
      <p:sp>
        <p:nvSpPr>
          <p:cNvPr id="9" name="Text 7">
            <a:hlinkClick r:id="rId2" tooltip="Ke agenda" action="ppaction://hlinksldjump"/>
          </p:cNvPr>
          <p:cNvSpPr/>
          <p:nvPr/>
        </p:nvSpPr>
        <p:spPr>
          <a:xfrm>
            <a:off x="8716975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F7A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Agenda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97135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9525">
            <a:solidFill>
              <a:srgbClr val="D9481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 GITHUB</a:t>
            </a:r>
            <a:endParaRPr lang="en-US" sz="1100" dirty="0"/>
          </a:p>
        </p:txBody>
      </p:sp>
      <p:sp>
        <p:nvSpPr>
          <p:cNvPr id="14" name="Text 11">
            <a:hlinkClick r:id="rId3" tooltip="Buka repo"/>
          </p:cNvPr>
          <p:cNvSpPr/>
          <p:nvPr/>
        </p:nvSpPr>
        <p:spPr>
          <a:xfrm>
            <a:off x="822960" y="1965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invalidUrl="" action="" tgtFrame="" tooltip="Buka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https://github.com/ziancuk/merchant-hunter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2960" y="2468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dari nol: README.md · docs/RUN-GUIDE.md  |  tag rilis: v1.0.0</a:t>
            </a:r>
            <a:endParaRPr lang="en-US" sz="1200" dirty="0"/>
          </a:p>
        </p:txBody>
      </p:sp>
      <p:sp>
        <p:nvSpPr>
          <p:cNvPr id="16" name="Text 13">
            <a:hlinkClick r:id="rId4" tooltip=""/>
          </p:cNvPr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F7A6E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Seluruh dokumentasi ada di folder docs/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3520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PRD.md · TRD.md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79476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dan keputusan teknis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0" y="352044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63640" y="3520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ARCHITECTURE.md · DB-SCHEMA.md · CONTRACTS.md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7260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arsitektur, skema, kontrak API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17880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" y="41788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IMPLEMENTATION-PLAN.md · GIT-WORKFLOW.md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794760" y="41788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dan alur git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417880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263640" y="41788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TEST-PLAN.md · TEST-REPORT.md · qa-browser-notes.md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372600" y="41788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dan hasil tes, catatan QA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83717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5800" y="48371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DECISIONS.md · REFACTORING.md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794760" y="48371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(D-xx) dan hasil refactoring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26480" y="483717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263640" y="48371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AGENTS-LOG.md · pr/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372600" y="48371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subagen dan catatan PR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549554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85800" y="54955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· RUN-GUIDE.md · SLIDE-NOTES.md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794760" y="5495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desain, panduan jalan, bahan slide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26480" y="549554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3C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B2A4A">
                <a:alpha val="Infinity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263640" y="54955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screenshots/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372600" y="5495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tangkapan layar aplikasi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 · Muhamad Fauzian 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Merchant Hunter - Presentasi Manajemen</dc:title>
  <dc:subject>PptxGenJS Presentation</dc:subject>
  <dc:creator>Muhamad Fauzian S</dc:creator>
  <cp:lastModifiedBy>Muhamad Fauzian S</cp:lastModifiedBy>
  <cp:revision>1</cp:revision>
  <dcterms:created xsi:type="dcterms:W3CDTF">2026-10-27T14:56:00Z</dcterms:created>
  <dcterms:modified xsi:type="dcterms:W3CDTF">2026-10-27T14:56:00Z</dcterms:modified>
</cp:coreProperties>
</file>