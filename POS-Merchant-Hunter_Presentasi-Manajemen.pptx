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"Di mana merchant Hitachi POS berikutnya? Hari ini jawabannya ada di tebakan; dengan POS Merchant Hunter, jawabannya ada di peta."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§1: tidak ada pandangan spasial, pencarian tidak sistematis, tidak ada jejak kontak, tidak ada ukuran nilai.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Temukan, Nilai, Hubungi. Semuanya tercatat dan bisa dilihat bersama oleh 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Pencarian malam berjalan 01.00 WIB lewat scheduler, jadi pengguna tidak menunggu API pihak ketiga saat membuka halaman.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§2. Konversi 3% adalah asumsi awal yang bisa diubah di kalkulator. Semua angka dibaca dari Dasbor.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§5 dan §8. Risiko: lisensi Google Places (hanya place_id disimpan permanen), batas layanan gratis, data OSM tipis, spam WhatsApp, UU PDP (tinjau legal sebelum pilot).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Alur: PROMPT.md → dokumen (tag v0.1-docs) → review dokumen → build paralel di git worktree → QA dan keamanan → rilis v1.0.0. Stack: Laravel 12, Vue 3 + Inertia, MapLibre + deck.gl, SQLite.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PROMPT.md (baris 1, 3, 5, 15, 18, 25). Bila ingin menambah tangkapan layar sesi Claude Code, tempel di slide 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docs/PRD.md §2. 15 berkas di docs/, ±2.100 baris: PRD, TRD, DB-SCHEMA, ARCHITECTURE, CONTRACTS, IMPLEMENTATION-PLAN, TEST-PLAN, GIT-WORKFLOW, dan lainnya.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Cuplikan asli docs/AGENTS-LOG.md (Sesi 1). Riset dan review read-only; penulis kode maksimal 3 paralel, masing-masing di git worktree sendiri. Log lengkap 4 sesi ada di docs/AGENTS-LOG.md.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asli git log --first-parent. 102 commit per 27 Okt 2026, conventional commits; cabang worktree-agent-* adalah agen paralel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Sumber: AGENTS-LOG.md, TEST-REPORT.md §6, qa-browser-notes.md. Review dokumen: 2 kritis, 11 mayor, 6 minor (mis. white space mustahil dihitung; nomor simulasi bisa di-WhatsApp). QA browser: 1 mayor, 14 minor. Audit keamanan: 0 kritis, 2 mayor, 8 minor; scan secret seluruh riwayat git 0 temuan. Refactoring: ekspor CSV 0,80 → 0,08 dtk; bundel awal 525 → 284 kB.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lewati intro, hover outlet untuk cincin 2 km, filter provinsi dan skor. Mode: Prospek, Heatmap, White Space, Cakupan. Ctrl/Cmd+K membuka pencarian cepat.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Kartu prospek: skor, rincian enam faktor, kontak dan tombol WhatsApp. Data telepon dan rating dari MockProvider selalu berlabel Simulasi.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Skor berbasis aturan (bukan ML), 100 poin: kecocokan jenis usaha 25, rating dan ulasan 20, dekat outlet 15, area ramai 15, baru buka 15, kontak lengkap 10. Bobot kategori bisa diubah di Master Kategori.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§9(c). Hanya tautan wa.me; manusia yang menekan kirim. Pesan menyebut pengirim dan memberi jalan keluar. Jeda 14 hari dan peringatan 7 hari bisa diatur admin. Hanya data bisnis yang dipublikasikan sumbernya.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pipeline pada screenshot diatur pada salinan database demo agar kolom terisi, bukan hasil sinkronisasi nyata. Tersedia tampilan tabel, aksi massal, dan alasan penolakan terstandar.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Rute: nearest-neighbor + 2-opt; tautan Google Maps multi-titik tanpa API key. Pilih 2 sampai 30 calon.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Dasbor: KPI, funnel, penetrasi provinsi, kesehatan pencarian malam. Laporan: tabel lengkap dengan unduh CSV/Excel sesuai filter. Halaman Estimasi Dampak &amp; Biaya membandingkan Google Places berbayar dengan OpenStreetMap Rp0; semua asumsi bisa diedit.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TEST-REPORT.md (25 Okt 2026, dijalankan ulang di commit akhir sesi 4). Setelah itu ditambah fitur i18n/Laporan; jalankan composer ci sebelum klaim angka terbaru. Sudah: 14,6 rb titik ±3 dtk, aksesibilitas axe 12 halaman, 0 secret. Belum: FPS GPU nyata, sync nyata Overpass/Google, MySQL/PostgreSQL, Safari/Firefox.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PRD §9(e). 1–2 provinsi, 10–20 outlet, 4–6 akun manajemen, 1 server kecil (2 vCPU, 4 GB) dengan HTTPS internal, akses lewat VPN/SSO. Data outlet via impor CSV; tidak mengakses database Hitachi POS langsung.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Biaya data Rp0 dengan OpenStreetMap. Google opsional dan nonaktif bawaan; bila dinyalakan penuh ±4.900 panggilan pencarian + ±950 detail per bulan untuk 190 outlet (sync mingguan), turun ±90% bila hanya di kota pilot. Tarif diisi sendiri di kalkulator, bukan klaim harga resmi. Roadmap: pasca-pilot endpoint sinkronisasi dari Hitachi POS, lalu peran berbeda dan 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 public. Setup dari nol: README.md dan docs/RUN-GUIDE.md. Tag rilis v1.0.0. Panduan pengguna tersedia sebagai deck terpisah.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ziancuk/merchant-hunter" TargetMode="External"/><Relationship Id="rId2" Type="http://schemas.openxmlformats.org/officeDocument/2006/relationships/hyperlink" Target="https://github.com/ziancuk/merchant-hunter/tree/main/docs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498080" y="-2011680"/>
            <a:ext cx="6858000" cy="685800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595360" y="-914400"/>
            <a:ext cx="4663440" cy="4663440"/>
          </a:xfrm>
          <a:prstGeom prst="ellipse">
            <a:avLst/>
          </a:prstGeom>
          <a:ln w="12700">
            <a:solidFill>
              <a:srgbClr val="2C3E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CLAUDE CODE · HACKTIV8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105156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 Merchant</a:t>
            </a:r>
            <a:endParaRPr lang="en-US" sz="5800" dirty="0"/>
          </a:p>
          <a:p>
            <a:pPr indent="0" marL="0">
              <a:buNone/>
            </a:pPr>
            <a:r>
              <a:rPr lang="en-US" sz="5800" b="1" dirty="0">
                <a:solidFill>
                  <a:srgbClr val="F2A2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Hunter</a:t>
            </a:r>
            <a:endParaRPr lang="en-US" sz="58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822960" cy="54864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352044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E4E9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Temukan calon merchant Hitachi POS berikutnya, langsung di peta.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31520" y="5394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Muhamad Fauzian 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585216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PT Hitachi Channel Solutions Indonesia · Oktober 2026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118872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5000"/>
              </a:srgbClr>
            </a:outerShdw>
          </a:effectLst>
        </p:spPr>
      </p:sp>
      <p:pic>
        <p:nvPicPr>
          <p:cNvPr id="13" name="Image 0" descr="/private/tmp/claude-501/-Users-zian-Documents-PROJECT-pos-merchant-hunter/74e6d19c-bc11-4bab-b5fe-c20c3ce98a31/scratchpad/jpg/01-pe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280160"/>
            <a:ext cx="5303520" cy="33147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0936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9C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berjalan (data contoh)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Masalah yang sering terjadi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3566160" cy="9144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196596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2296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Cari sendiri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82296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sales mencari dengan caranya sendiri.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29768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297680" y="1645920"/>
            <a:ext cx="3566160" cy="91440"/>
          </a:xfrm>
          <a:prstGeom prst="rect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0" y="1965960"/>
            <a:ext cx="640080" cy="640080"/>
          </a:xfrm>
          <a:prstGeom prst="ellipse">
            <a:avLst/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720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457200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 ada prioritas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457200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nilai untuk memilih siapa dulu.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046720" y="1645920"/>
            <a:ext cx="356616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046720" y="1645920"/>
            <a:ext cx="3566160" cy="91440"/>
          </a:xfrm>
          <a:prstGeom prst="rect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321040" y="1965960"/>
            <a:ext cx="640080" cy="640080"/>
          </a:xfrm>
          <a:prstGeom prst="ellipse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32104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3210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 dobel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321040" y="33832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Rekan lain mungkin sudah menghubungi.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48640" y="470916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914400" y="47548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“Di mana merchant Hitachi POS berikutnya? Dengan POS Merchant Hunter, jawabannya ada di peta.”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Solusinya: satu aplikasi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23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1737360"/>
            <a:ext cx="4206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Aplikasi yang menemukan, menilai, lalu membantu menghubungi calon merchant.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548640" y="44805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Semuanya di satu tempat, terlihat bersama oleh tim.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212080" y="160020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440680" y="196596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4068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30936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Temukan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309360" y="22402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menunjukkan bisnis di sekitar outlet kita, paling jauh 2 km.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212080" y="315468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440680" y="352044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4068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30936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Nilai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09360" y="37947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calon diberi skor 0 sampai 100 beserta alasannya.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212080" y="4709160"/>
            <a:ext cx="64008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440680" y="5074920"/>
            <a:ext cx="640080" cy="64008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44068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6309360" y="48463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Hubungi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6309360" y="53492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klik membuka WhatsApp. Hasilnya dicatat otomatis.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2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4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47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5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5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6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71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7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8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9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Satu hari bersama aplikasi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Malam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 mencari bisnis baru, otomatis.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364992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639312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Pagi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3639312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 melihat calon paling menarik.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6181344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181344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55664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Siang</a:t>
            </a:r>
            <a:endParaRPr lang="en-US" sz="3200" dirty="0"/>
          </a:p>
        </p:txBody>
      </p:sp>
      <p:sp>
        <p:nvSpPr>
          <p:cNvPr id="21" name="Text 18"/>
          <p:cNvSpPr/>
          <p:nvPr/>
        </p:nvSpPr>
        <p:spPr>
          <a:xfrm>
            <a:off x="6455664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lewat WhatsApp. Tercatat.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8997696" y="1645920"/>
            <a:ext cx="2651760" cy="4023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997696" y="1645920"/>
            <a:ext cx="2651760" cy="1188720"/>
          </a:xfrm>
          <a:prstGeom prst="roundRect">
            <a:avLst>
              <a:gd name="adj" fmla="val 6154"/>
            </a:avLst>
          </a:prstGeom>
          <a:solidFill>
            <a:srgbClr val="A66A0A"/>
          </a:solidFill>
          <a:ln w="12700">
            <a:solidFill>
              <a:srgbClr val="A66A0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272016" y="16459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Sore</a:t>
            </a:r>
            <a:endParaRPr lang="en-US" sz="3200" dirty="0"/>
          </a:p>
        </p:txBody>
      </p:sp>
      <p:sp>
        <p:nvSpPr>
          <p:cNvPr id="25" name="Text 22"/>
          <p:cNvSpPr/>
          <p:nvPr/>
        </p:nvSpPr>
        <p:spPr>
          <a:xfrm>
            <a:off x="9272016" y="310896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Atasan melihat laporan hari itu.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13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3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6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88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01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238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463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6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PRD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Target pilot 90 hari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25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822960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calon per outlet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97680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57200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−50%</a:t>
            </a:r>
            <a:endParaRPr lang="en-US" sz="5400" dirty="0"/>
          </a:p>
        </p:txBody>
      </p:sp>
      <p:sp>
        <p:nvSpPr>
          <p:cNvPr id="15" name="Text 12"/>
          <p:cNvSpPr/>
          <p:nvPr/>
        </p:nvSpPr>
        <p:spPr>
          <a:xfrm>
            <a:off x="4572000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waktu riset sales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8046720" y="1645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321040" y="1828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5400" dirty="0"/>
          </a:p>
        </p:txBody>
      </p:sp>
      <p:sp>
        <p:nvSpPr>
          <p:cNvPr id="18" name="Text 15"/>
          <p:cNvSpPr/>
          <p:nvPr/>
        </p:nvSpPr>
        <p:spPr>
          <a:xfrm>
            <a:off x="8321040" y="3017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 ganda tanpa peringatan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931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" y="4114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5B6B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3%</a:t>
            </a:r>
            <a:endParaRPr lang="en-US" sz="5400" dirty="0"/>
          </a:p>
        </p:txBody>
      </p:sp>
      <p:sp>
        <p:nvSpPr>
          <p:cNvPr id="21" name="Text 18"/>
          <p:cNvSpPr/>
          <p:nvPr/>
        </p:nvSpPr>
        <p:spPr>
          <a:xfrm>
            <a:off x="822960" y="5303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Dihubungi jadi Deal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4297680" y="3931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4572000" y="4114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5400" dirty="0"/>
          </a:p>
        </p:txBody>
      </p:sp>
      <p:sp>
        <p:nvSpPr>
          <p:cNvPr id="24" name="Text 21"/>
          <p:cNvSpPr/>
          <p:nvPr/>
        </p:nvSpPr>
        <p:spPr>
          <a:xfrm>
            <a:off x="4572000" y="5303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data (OpenStreetMap)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046720" y="3931920"/>
            <a:ext cx="356616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321040" y="41148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≥ 80%</a:t>
            </a:r>
            <a:endParaRPr lang="en-US" sz="5400" dirty="0"/>
          </a:p>
        </p:txBody>
      </p:sp>
      <p:sp>
        <p:nvSpPr>
          <p:cNvPr id="27" name="Text 24"/>
          <p:cNvSpPr/>
          <p:nvPr/>
        </p:nvSpPr>
        <p:spPr>
          <a:xfrm>
            <a:off x="8321040" y="53035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akun aktif tiap minggu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RINGKASAN PRD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 saja di versi 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3566160" cy="91440"/>
          </a:xfrm>
          <a:prstGeom prst="rect">
            <a:avLst/>
          </a:prstGeom>
          <a:solidFill>
            <a:srgbClr val="0F8B7D"/>
          </a:solidFill>
          <a:ln w="12700">
            <a:solidFill>
              <a:srgbClr val="0F8B7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Termasuk v1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296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3D dan skor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dan pipeline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Rute kunjungan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 dan laporan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otomatis malam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429768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297680" y="1645920"/>
            <a:ext cx="3566160" cy="91440"/>
          </a:xfrm>
          <a:prstGeom prst="rect">
            <a:avLst/>
          </a:prstGeom>
          <a:solidFill>
            <a:srgbClr val="5B6B82"/>
          </a:solidFill>
          <a:ln w="12700">
            <a:solidFill>
              <a:srgbClr val="5B6B8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7200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termasuk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457200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Terhubung ke database POS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Kirim WhatsApp otomatis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Banyak peran akses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 mobile native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8046720" y="1645920"/>
            <a:ext cx="3566160" cy="43891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8046720" y="1645920"/>
            <a:ext cx="3566160" cy="9144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321040" y="1920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Risiko dijaga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321040" y="265176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Lisensi data Google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Batas layanan gratis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Spam WhatsApp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Privasi (UU PDP)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MEMBANGUN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Diorkestrasi Claude Code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7724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77724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spesifikasi lengkap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256032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3"/>
          <p:cNvSpPr/>
          <p:nvPr/>
        </p:nvSpPr>
        <p:spPr>
          <a:xfrm>
            <a:off x="281178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08610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8610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304038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Dokumen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304038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PRD, TRD, skema, kontrak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82346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2" name="Shape 19"/>
          <p:cNvSpPr/>
          <p:nvPr/>
        </p:nvSpPr>
        <p:spPr>
          <a:xfrm>
            <a:off x="507492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34924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4924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30352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</a:t>
            </a:r>
            <a:endParaRPr lang="en-US" sz="2400" dirty="0"/>
          </a:p>
        </p:txBody>
      </p:sp>
      <p:sp>
        <p:nvSpPr>
          <p:cNvPr id="26" name="Text 23"/>
          <p:cNvSpPr/>
          <p:nvPr/>
        </p:nvSpPr>
        <p:spPr>
          <a:xfrm>
            <a:off x="530352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cek sebelum kode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708660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8" name="Shape 25"/>
          <p:cNvSpPr/>
          <p:nvPr/>
        </p:nvSpPr>
        <p:spPr>
          <a:xfrm>
            <a:off x="733806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61238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61238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756666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400" dirty="0"/>
          </a:p>
        </p:txBody>
      </p:sp>
      <p:sp>
        <p:nvSpPr>
          <p:cNvPr id="32" name="Text 29"/>
          <p:cNvSpPr/>
          <p:nvPr/>
        </p:nvSpPr>
        <p:spPr>
          <a:xfrm>
            <a:off x="756666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 paralel, lalu digabung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9349740" y="3108960"/>
            <a:ext cx="2514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34" name="Shape 31"/>
          <p:cNvSpPr/>
          <p:nvPr/>
        </p:nvSpPr>
        <p:spPr>
          <a:xfrm>
            <a:off x="9601200" y="1828800"/>
            <a:ext cx="2011680" cy="31089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875520" y="2103120"/>
            <a:ext cx="594360" cy="5943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875520" y="210312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9829800" y="29260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QA dan rilis</a:t>
            </a:r>
            <a:endParaRPr lang="en-US" sz="2400" dirty="0"/>
          </a:p>
        </p:txBody>
      </p:sp>
      <p:sp>
        <p:nvSpPr>
          <p:cNvPr id="38" name="Text 35"/>
          <p:cNvSpPr/>
          <p:nvPr/>
        </p:nvSpPr>
        <p:spPr>
          <a:xfrm>
            <a:off x="9829800" y="365760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Tes, audit, tag v1.0.0</a:t>
            </a:r>
            <a:endParaRPr lang="en-US" sz="1800" dirty="0"/>
          </a:p>
        </p:txBody>
      </p:sp>
      <p:sp>
        <p:nvSpPr>
          <p:cNvPr id="39" name="Text 36"/>
          <p:cNvSpPr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slide berikut: bukti asli dari repo.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9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1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38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5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68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174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1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Prompt yang kami tulis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138928" cy="4602480"/>
          </a:xfrm>
          <a:prstGeom prst="roundRect">
            <a:avLst>
              <a:gd name="adj" fmla="val 119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promp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029200" cy="44927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2301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PROMPT.md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6309360" y="1920240"/>
            <a:ext cx="5303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spesifikasi lengkap</a:t>
            </a:r>
            <a:endParaRPr lang="en-US" sz="24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Aturan keras tertulis: data dummy, tanpa secret</a:t>
            </a:r>
            <a:endParaRPr lang="en-US" sz="2400" dirty="0"/>
          </a:p>
          <a:p>
            <a:pPr marL="228600" indent="-228600">
              <a:spcAft>
                <a:spcPts val="2000"/>
              </a:spcAft>
              <a:buSzPct val="100000"/>
              <a:buChar char="•"/>
            </a:pPr>
            <a:r>
              <a:rPr lang="en-US" sz="24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Tiap sesi: “Baca PROMPT.md dan kerjakan Sesi N”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2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Dari prompt ke PRD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784848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p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675120" cy="40050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74243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docs/PRD.md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680960" y="16002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dokumen di docs/</a:t>
            </a:r>
            <a:endParaRPr lang="en-US" sz="2600" dirty="0"/>
          </a:p>
        </p:txBody>
      </p:sp>
      <p:sp>
        <p:nvSpPr>
          <p:cNvPr id="14" name="Text 10"/>
          <p:cNvSpPr/>
          <p:nvPr/>
        </p:nvSpPr>
        <p:spPr>
          <a:xfrm>
            <a:off x="7680960" y="228600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dan TRD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Skema DB dan kontrak API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dan strategi tes</a:t>
            </a:r>
            <a:endParaRPr lang="en-US" sz="20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 tes dan keputusan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3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Subagen bekerja paralel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784848" cy="4675510"/>
          </a:xfrm>
          <a:prstGeom prst="roundRect">
            <a:avLst>
              <a:gd name="adj" fmla="val 1173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agent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675120" cy="45657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303142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Cuplikan asli docs/AGENTS-LOG.md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680960" y="160020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955280" y="17373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200" dirty="0"/>
          </a:p>
        </p:txBody>
      </p:sp>
      <p:sp>
        <p:nvSpPr>
          <p:cNvPr id="15" name="Text 11"/>
          <p:cNvSpPr/>
          <p:nvPr/>
        </p:nvSpPr>
        <p:spPr>
          <a:xfrm>
            <a:off x="7955280" y="26974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 kerja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7680960" y="352044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955280" y="365760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5200" dirty="0"/>
          </a:p>
        </p:txBody>
      </p:sp>
      <p:sp>
        <p:nvSpPr>
          <p:cNvPr id="18" name="Text 14"/>
          <p:cNvSpPr/>
          <p:nvPr/>
        </p:nvSpPr>
        <p:spPr>
          <a:xfrm>
            <a:off x="7955280" y="46177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 tercatat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BUKTI 4 DARI 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Riwayat git dan rilis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870448" cy="4626132"/>
          </a:xfrm>
          <a:prstGeom prst="roundRect">
            <a:avLst>
              <a:gd name="adj" fmla="val 1186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ev2-g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760720" cy="45164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25376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asli git log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949440" y="178308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32320" y="219456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58952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v0.1  Dokumen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949440" y="283464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132320" y="324612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589520" y="27432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v0.2  Backend</a:t>
            </a:r>
            <a:endParaRPr lang="en-US" sz="2600" dirty="0"/>
          </a:p>
        </p:txBody>
      </p:sp>
      <p:sp>
        <p:nvSpPr>
          <p:cNvPr id="19" name="Shape 15"/>
          <p:cNvSpPr/>
          <p:nvPr/>
        </p:nvSpPr>
        <p:spPr>
          <a:xfrm>
            <a:off x="6949440" y="388620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132320" y="4297680"/>
            <a:ext cx="0" cy="640080"/>
          </a:xfrm>
          <a:prstGeom prst="line">
            <a:avLst/>
          </a:prstGeom>
          <a:noFill/>
          <a:ln w="25400">
            <a:solidFill>
              <a:srgbClr val="DAD3C6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589520" y="37947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v0.3  Aplikasi</a:t>
            </a:r>
            <a:endParaRPr lang="en-US" sz="2600" dirty="0"/>
          </a:p>
        </p:txBody>
      </p:sp>
      <p:sp>
        <p:nvSpPr>
          <p:cNvPr id="22" name="Shape 18"/>
          <p:cNvSpPr/>
          <p:nvPr/>
        </p:nvSpPr>
        <p:spPr>
          <a:xfrm>
            <a:off x="6949440" y="4937760"/>
            <a:ext cx="365760" cy="36576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589520" y="48463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v1.0.0  Rilis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8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57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7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KUALITAS PROSES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juga mengaudit AI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</a:t>
            </a:r>
            <a:endParaRPr lang="en-US" sz="7200" dirty="0"/>
          </a:p>
        </p:txBody>
      </p:sp>
      <p:sp>
        <p:nvSpPr>
          <p:cNvPr id="12" name="Text 9"/>
          <p:cNvSpPr/>
          <p:nvPr/>
        </p:nvSpPr>
        <p:spPr>
          <a:xfrm>
            <a:off x="82296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masalah dokumen ditemukan sebelum kode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29768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57200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7200" dirty="0"/>
          </a:p>
        </p:txBody>
      </p:sp>
      <p:sp>
        <p:nvSpPr>
          <p:cNvPr id="15" name="Text 12"/>
          <p:cNvSpPr/>
          <p:nvPr/>
        </p:nvSpPr>
        <p:spPr>
          <a:xfrm>
            <a:off x="457200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kritis di QA browser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8046720" y="173736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321040" y="2011680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10×</a:t>
            </a:r>
            <a:endParaRPr lang="en-US" sz="7200" dirty="0"/>
          </a:p>
        </p:txBody>
      </p:sp>
      <p:sp>
        <p:nvSpPr>
          <p:cNvPr id="18" name="Text 15"/>
          <p:cNvSpPr/>
          <p:nvPr/>
        </p:nvSpPr>
        <p:spPr>
          <a:xfrm>
            <a:off x="8321040" y="3657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CSV jadi lebih cepat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Peta: lihat semua calon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7059168" cy="4453128"/>
          </a:xfrm>
          <a:prstGeom prst="roundRect">
            <a:avLst>
              <a:gd name="adj" fmla="val 123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1-pet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949440" cy="4343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0807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pada gambar adalah data contoh.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955280" y="182880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092440" y="1965960"/>
            <a:ext cx="182880" cy="1828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64108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Putih: outlet kita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7955280" y="2651760"/>
            <a:ext cx="457200" cy="457200"/>
          </a:xfrm>
          <a:prstGeom prst="ellipse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641080" y="2651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Merah: Bidik Utama</a:t>
            </a:r>
            <a:endParaRPr lang="en-US" sz="2000" dirty="0"/>
          </a:p>
        </p:txBody>
      </p:sp>
      <p:sp>
        <p:nvSpPr>
          <p:cNvPr id="18" name="Shape 14"/>
          <p:cNvSpPr/>
          <p:nvPr/>
        </p:nvSpPr>
        <p:spPr>
          <a:xfrm>
            <a:off x="7955280" y="3474720"/>
            <a:ext cx="457200" cy="45720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641080" y="34747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Kuning: Menjanjikan</a:t>
            </a:r>
            <a:endParaRPr lang="en-US" sz="2000" dirty="0"/>
          </a:p>
        </p:txBody>
      </p:sp>
      <p:sp>
        <p:nvSpPr>
          <p:cNvPr id="20" name="Shape 16"/>
          <p:cNvSpPr/>
          <p:nvPr/>
        </p:nvSpPr>
        <p:spPr>
          <a:xfrm>
            <a:off x="7955280" y="4297680"/>
            <a:ext cx="457200" cy="457200"/>
          </a:xfrm>
          <a:prstGeom prst="ellipse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641080" y="4297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Hijau: Berpotensi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7955280" y="5120640"/>
            <a:ext cx="457200" cy="457200"/>
          </a:xfrm>
          <a:prstGeom prst="ellipse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641080" y="5120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Abu-abu: Pantau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9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8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57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41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67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Klik titik, lihat kartunya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876288" cy="4338828"/>
          </a:xfrm>
          <a:prstGeom prst="roundRect">
            <a:avLst>
              <a:gd name="adj" fmla="val 1264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3-draw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66560" cy="42291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97231" y="221742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97231" y="2217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5489692" y="2640330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489692" y="264033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9692" y="5093208"/>
            <a:ext cx="457200" cy="4572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489692" y="50932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48640" y="59664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 kartu prospek (data simulasi)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772400" y="160020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01000" y="17830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00100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18"/>
          <p:cNvSpPr/>
          <p:nvPr/>
        </p:nvSpPr>
        <p:spPr>
          <a:xfrm>
            <a:off x="8732520" y="1783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Skor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8001000" y="242316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Makin tinggi, makin layak.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7772400" y="315468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8001000" y="33375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00100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7" name="Text 23"/>
          <p:cNvSpPr/>
          <p:nvPr/>
        </p:nvSpPr>
        <p:spPr>
          <a:xfrm>
            <a:off x="8732520" y="33375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Alasan</a:t>
            </a:r>
            <a:endParaRPr lang="en-US" sz="2600" dirty="0"/>
          </a:p>
        </p:txBody>
      </p:sp>
      <p:sp>
        <p:nvSpPr>
          <p:cNvPr id="28" name="Text 24"/>
          <p:cNvSpPr/>
          <p:nvPr/>
        </p:nvSpPr>
        <p:spPr>
          <a:xfrm>
            <a:off x="8001000" y="3977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hal penentu skor.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7772400" y="470916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0" name="Shape 26"/>
          <p:cNvSpPr/>
          <p:nvPr/>
        </p:nvSpPr>
        <p:spPr>
          <a:xfrm>
            <a:off x="8001000" y="489204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0100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8732520" y="48920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Kontak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8001000" y="55321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Telepon, alamat, WhatsApp.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2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75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25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2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975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2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275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42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575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725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 membaca skor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48640" y="1645920"/>
            <a:ext cx="2651760" cy="128016"/>
          </a:xfrm>
          <a:prstGeom prst="rect">
            <a:avLst/>
          </a:prstGeom>
          <a:solidFill>
            <a:srgbClr val="E8350E"/>
          </a:solidFill>
          <a:ln w="12700">
            <a:solidFill>
              <a:srgbClr val="E8350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Bidik Utama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2296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835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– 100</a:t>
            </a:r>
            <a:endParaRPr lang="en-US" sz="3400" dirty="0"/>
          </a:p>
        </p:txBody>
      </p:sp>
      <p:sp>
        <p:nvSpPr>
          <p:cNvPr id="14" name="Text 11"/>
          <p:cNvSpPr/>
          <p:nvPr/>
        </p:nvSpPr>
        <p:spPr>
          <a:xfrm>
            <a:off x="822960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Hubungi lebih dulu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364992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364992" y="1645920"/>
            <a:ext cx="2651760" cy="1280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639312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Menjanjikan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3639312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55 – 74</a:t>
            </a:r>
            <a:endParaRPr lang="en-US" sz="3400" dirty="0"/>
          </a:p>
        </p:txBody>
      </p:sp>
      <p:sp>
        <p:nvSpPr>
          <p:cNvPr id="19" name="Text 16"/>
          <p:cNvSpPr/>
          <p:nvPr/>
        </p:nvSpPr>
        <p:spPr>
          <a:xfrm>
            <a:off x="3639312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Layak dicoba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181344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181344" y="1645920"/>
            <a:ext cx="2651760" cy="128016"/>
          </a:xfrm>
          <a:prstGeom prst="rect">
            <a:avLst/>
          </a:prstGeom>
          <a:solidFill>
            <a:srgbClr val="0E9F8E"/>
          </a:solidFill>
          <a:ln w="12700">
            <a:solidFill>
              <a:srgbClr val="0E9F8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55664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Berpotensi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6455664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E9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– 54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6455664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Jika ada waktu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8997696" y="164592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997696" y="1645920"/>
            <a:ext cx="2651760" cy="128016"/>
          </a:xfrm>
          <a:prstGeom prst="rect">
            <a:avLst/>
          </a:prstGeom>
          <a:solidFill>
            <a:srgbClr val="6B7F91"/>
          </a:solidFill>
          <a:ln w="12700">
            <a:solidFill>
              <a:srgbClr val="6B7F9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272016" y="20116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</a:t>
            </a:r>
            <a:endParaRPr lang="en-US" sz="2400" dirty="0"/>
          </a:p>
        </p:txBody>
      </p:sp>
      <p:sp>
        <p:nvSpPr>
          <p:cNvPr id="28" name="Text 25"/>
          <p:cNvSpPr/>
          <p:nvPr/>
        </p:nvSpPr>
        <p:spPr>
          <a:xfrm>
            <a:off x="9272016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B7F9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– 34</a:t>
            </a:r>
            <a:endParaRPr lang="en-US" sz="3400" dirty="0"/>
          </a:p>
        </p:txBody>
      </p:sp>
      <p:sp>
        <p:nvSpPr>
          <p:cNvPr id="29" name="Text 26"/>
          <p:cNvSpPr/>
          <p:nvPr/>
        </p:nvSpPr>
        <p:spPr>
          <a:xfrm>
            <a:off x="9272016" y="3657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rendah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548640" y="493776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914400" y="493776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Dihitung dari 6 hal: jenis usaha, rating, jarak ke outlet, keramaian, baru buka, kontak lengkap.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2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64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4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27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0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91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73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55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36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1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82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64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145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27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09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391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473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555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636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718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Menghubungi dengan sopan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2296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Pesan terisi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2296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per kategori, bisa diedit dulu.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432816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0248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0248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460248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Cegah dobel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60248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Muncul bila rekan sudah menghubungi.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107680" y="1645920"/>
            <a:ext cx="350520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382000" y="1920240"/>
            <a:ext cx="685800" cy="68580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382000" y="19202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382000" y="2834640"/>
            <a:ext cx="295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Opt-out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382000" y="3429000"/>
            <a:ext cx="295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Jangan hubungi lagi: WhatsApp hilang.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0292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914400" y="50292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Jeda minimal 14 hari antar kontak. Tidak ada kirim otomatis.</a:t>
            </a:r>
            <a:endParaRPr lang="en-US" sz="2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2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35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4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47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53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59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65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71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76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8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88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94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Pantau perjalanan tiap calon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7424928" cy="4681728"/>
          </a:xfrm>
          <a:prstGeom prst="roundRect">
            <a:avLst>
              <a:gd name="adj" fmla="val 117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4-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315200" cy="45720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309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pada data demo diatur manual untuk ilustrasi.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8229600" y="1828800"/>
            <a:ext cx="34747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Seret kartu ke kolom berikutnya</a:t>
            </a:r>
            <a:endParaRPr lang="en-US" sz="2200" dirty="0"/>
          </a:p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dan kapan tercatat</a:t>
            </a:r>
            <a:endParaRPr lang="en-US" sz="2200" dirty="0"/>
          </a:p>
          <a:p>
            <a:pPr marL="228600" indent="-228600">
              <a:spcAft>
                <a:spcPts val="2200"/>
              </a:spcAft>
              <a:buSzPct val="100000"/>
              <a:buChar char="•"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Peringatan kontak dobel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 kunjungan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6419088" cy="4053078"/>
          </a:xfrm>
          <a:prstGeom prst="roundRect">
            <a:avLst>
              <a:gd name="adj" fmla="val 1354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7-rut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309360" cy="394335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568071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Urutan, jarak total, tombol Google Maps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7223760" y="160020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452360" y="17830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4523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8183880" y="1783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Pilih calon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7452360" y="24231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 peta atau di tabel.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7223760" y="315468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52360" y="33375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52360" y="3337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83880" y="33375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Susun rute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7452360" y="3977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Urutan paling pendek.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7223760" y="4709160"/>
            <a:ext cx="4389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452360" y="489204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45236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8183880" y="489204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Buka di Maps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7452360" y="5532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tombol, lalu ikuti arah.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APLIKASI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Dasbor dan laporan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3776" y="1545336"/>
            <a:ext cx="5413248" cy="3424428"/>
          </a:xfrm>
          <a:prstGeom prst="roundRect">
            <a:avLst>
              <a:gd name="adj" fmla="val 160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1" name="Image 0" descr="/private/tmp/claude-501/-Users-zian-Documents-PROJECT-pos-merchant-hunter/74e6d19c-bc11-4bab-b5fe-c20c3ce98a31/scratchpad/jpg/05-dash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03520" cy="33147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54496" y="1545336"/>
            <a:ext cx="5413248" cy="3424428"/>
          </a:xfrm>
          <a:prstGeom prst="roundRect">
            <a:avLst>
              <a:gd name="adj" fmla="val 1602"/>
            </a:avLst>
          </a:prstGeom>
          <a:solidFill>
            <a:srgbClr val="FFFFFF"/>
          </a:solidFill>
          <a:ln w="12700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pic>
        <p:nvPicPr>
          <p:cNvPr id="13" name="Image 1" descr="/private/tmp/claude-501/-Users-zian-Documents-PROJECT-pos-merchant-hunter/74e6d19c-bc11-4bab-b5fe-c20c3ce98a31/scratchpad/jpg/07-lapora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600200"/>
            <a:ext cx="5303520" cy="33147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8640" y="50977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Dasbor: angka penting dalam satu layar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09360" y="509778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Laporan: unduh CSV atau Excel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5486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pada gambar adalah data contoh.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MUTU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Hasil tes dan hal yang belum teruji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455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7772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backend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3364992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593592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299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3593592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frontend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81344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09944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4600" dirty="0"/>
          </a:p>
        </p:txBody>
      </p:sp>
      <p:sp>
        <p:nvSpPr>
          <p:cNvPr id="18" name="Text 15"/>
          <p:cNvSpPr/>
          <p:nvPr/>
        </p:nvSpPr>
        <p:spPr>
          <a:xfrm>
            <a:off x="6409944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 E2E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8997696" y="1645920"/>
            <a:ext cx="26517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226296" y="173736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600" dirty="0"/>
          </a:p>
        </p:txBody>
      </p:sp>
      <p:sp>
        <p:nvSpPr>
          <p:cNvPr id="21" name="Text 18"/>
          <p:cNvSpPr/>
          <p:nvPr/>
        </p:nvSpPr>
        <p:spPr>
          <a:xfrm>
            <a:off x="9226296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 bocor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365760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22960" y="3749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Sudah diverifikasi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822960" y="4297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14,6 ribu titik dalam ±3 detik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Aksesibilitas di 12 halaman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produksi hijau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6172200" y="3657600"/>
            <a:ext cx="54406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A66A0A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6446520" y="37490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A66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Belum teruji</a:t>
            </a:r>
            <a:endParaRPr lang="en-US" sz="2200" dirty="0"/>
          </a:p>
        </p:txBody>
      </p:sp>
      <p:sp>
        <p:nvSpPr>
          <p:cNvPr id="27" name="Text 24"/>
          <p:cNvSpPr/>
          <p:nvPr/>
        </p:nvSpPr>
        <p:spPr>
          <a:xfrm>
            <a:off x="6446520" y="42976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Kecepatan di GPU nyata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Pencarian nyata ke Overpass/Google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dan PostgreSQL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ADOPSI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8 minggu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0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Siapkan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2296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 outlet asli, cek hasil geocoding.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4069080" y="2834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29768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1–6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57200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Jalankan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457200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Dipakai harian, metrik ditinjau tiap minggu.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818120" y="2834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7"/>
          <p:cNvSpPr/>
          <p:nvPr/>
        </p:nvSpPr>
        <p:spPr>
          <a:xfrm>
            <a:off x="8046720" y="1645920"/>
            <a:ext cx="356616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9481C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18288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Minggu 7–8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321040" y="22402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Putuskan</a:t>
            </a:r>
            <a:endParaRPr lang="en-US" sz="3400" dirty="0"/>
          </a:p>
        </p:txBody>
      </p:sp>
      <p:sp>
        <p:nvSpPr>
          <p:cNvPr id="23" name="Text 20"/>
          <p:cNvSpPr/>
          <p:nvPr/>
        </p:nvSpPr>
        <p:spPr>
          <a:xfrm>
            <a:off x="8321040" y="310896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Evaluasi, lalu keputusan perluasan.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4864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10–20 outlet</a:t>
            </a:r>
            <a:endParaRPr lang="en-US" sz="2400" dirty="0"/>
          </a:p>
        </p:txBody>
      </p:sp>
      <p:sp>
        <p:nvSpPr>
          <p:cNvPr id="26" name="Shape 23"/>
          <p:cNvSpPr/>
          <p:nvPr/>
        </p:nvSpPr>
        <p:spPr>
          <a:xfrm>
            <a:off x="429768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29768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4–6 akun</a:t>
            </a:r>
            <a:endParaRPr lang="en-US" sz="2400" dirty="0"/>
          </a:p>
        </p:txBody>
      </p:sp>
      <p:sp>
        <p:nvSpPr>
          <p:cNvPr id="28" name="Shape 25"/>
          <p:cNvSpPr/>
          <p:nvPr/>
        </p:nvSpPr>
        <p:spPr>
          <a:xfrm>
            <a:off x="8046720" y="5029200"/>
            <a:ext cx="3566160" cy="1051560"/>
          </a:xfrm>
          <a:prstGeom prst="roundRect">
            <a:avLst>
              <a:gd name="adj" fmla="val 6957"/>
            </a:avLst>
          </a:prstGeom>
          <a:solidFill>
            <a:srgbClr val="EFEAE1"/>
          </a:solidFill>
          <a:ln w="9525">
            <a:solidFill>
              <a:srgbClr val="EFEAE1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8046720" y="5029200"/>
            <a:ext cx="3566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server kecil</a:t>
            </a:r>
            <a:endParaRPr lang="en-US" sz="2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8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7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5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71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ADOPSI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dan permintaan kami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4297680" cy="438912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9525">
            <a:solidFill>
              <a:srgbClr val="0F8B7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6868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Biaya data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868680" y="246888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0F8B7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Rp0</a:t>
            </a:r>
            <a:endParaRPr lang="en-US" sz="8000" dirty="0"/>
          </a:p>
        </p:txBody>
      </p:sp>
      <p:sp>
        <p:nvSpPr>
          <p:cNvPr id="13" name="Text 10"/>
          <p:cNvSpPr/>
          <p:nvPr/>
        </p:nvSpPr>
        <p:spPr>
          <a:xfrm>
            <a:off x="868680" y="42062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dengan OpenStreetMap. Google bersifat opsional.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5212080" y="1645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D948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Yang kami minta</a:t>
            </a:r>
            <a:endParaRPr lang="en-US" sz="2600" dirty="0"/>
          </a:p>
        </p:txBody>
      </p:sp>
      <p:sp>
        <p:nvSpPr>
          <p:cNvPr id="15" name="Shape 12"/>
          <p:cNvSpPr/>
          <p:nvPr/>
        </p:nvSpPr>
        <p:spPr>
          <a:xfrm>
            <a:off x="5212080" y="228600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394960" y="242316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9496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172200" y="22860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Setujui pilot 1–2 provinsi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212080" y="324612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394960" y="338328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94960" y="3383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172200" y="324612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outlet asli (CSV)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212080" y="420624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394960" y="434340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94960" y="4343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172200" y="42062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Tinjauan legal (UU PDP)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5212080" y="5166360"/>
            <a:ext cx="64008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394960" y="5303520"/>
            <a:ext cx="548640" cy="548640"/>
          </a:xfrm>
          <a:prstGeom prst="ellipse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94960" y="5303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172200" y="516636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1421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sales pengguna awal</a:t>
            </a:r>
            <a:endParaRPr lang="en-US" sz="22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71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57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4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29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8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71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857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943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114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286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371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457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543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629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714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737360"/>
            <a:ext cx="4206240" cy="4206240"/>
          </a:xfrm>
          <a:prstGeom prst="ellipse">
            <a:avLst/>
          </a:prstGeom>
          <a:ln w="9525">
            <a:solidFill>
              <a:srgbClr val="DAD3C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481C"/>
          </a:solidFill>
          <a:ln w="12700">
            <a:solidFill>
              <a:srgbClr val="D948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48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DAN DOKUMENTASI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00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Semua ada di GitHub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6473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Merchant Hunter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271455" y="647395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23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164592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14213D"/>
          </a:solidFill>
          <a:ln w="9525">
            <a:solidFill>
              <a:srgbClr val="14213D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1440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2A2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REPOSITORI</a:t>
            </a:r>
            <a:endParaRPr lang="en-US" sz="1300" dirty="0"/>
          </a:p>
        </p:txBody>
      </p:sp>
      <p:sp>
        <p:nvSpPr>
          <p:cNvPr id="12" name="Text 9">
            <a:hlinkClick r:id="rId1" tooltip="Buka repo"/>
          </p:cNvPr>
          <p:cNvSpPr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u="sng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1" invalidUrl="" action="" tgtFrame="" tooltip="Buka rep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https://github.com/ziancuk/merchant-hunter</a:t>
            </a:r>
            <a:endParaRPr lang="en-US" sz="3000" dirty="0"/>
          </a:p>
        </p:txBody>
      </p:sp>
      <p:sp>
        <p:nvSpPr>
          <p:cNvPr id="13" name="Text 10">
            <a:hlinkClick r:id="rId2" tooltip="Buka docs/"/>
          </p:cNvPr>
          <p:cNvSpPr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u="sng" dirty="0">
                <a:solidFill>
                  <a:srgbClr val="0F7A6E"/>
                </a:solidFill>
                <a:latin typeface="Georgia" pitchFamily="34" charset="0"/>
                <a:ea typeface="Georgia" pitchFamily="34" charset="-122"/>
                <a:cs typeface="Georgia" pitchFamily="34" charset="-120"/>
                <a:hlinkClick r:id="rId2" invalidUrl="" action="" tgtFrame="" tooltip="Buka docs/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Dokumentasi ada di folder docs/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548640" y="397764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31520" y="39776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PRD.md · TRD.md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977640" y="39776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 dan teknis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26480" y="397764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09360" y="397764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ARCHITECTURE.md · DB-SCHEMA.md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9555480" y="397764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arsitektur dan skema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475488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731520" y="47548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TEST-PLAN.md · TEST-REPORT.md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3977640" y="47548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rencana dan hasil tes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126480" y="475488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6309360" y="475488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AGENTS-LOG.md · DECISIONS.md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555480" y="47548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subagen, keputusan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553212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731520" y="5532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RUN-GUIDE.md · README.md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3977640" y="55321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 menjalankan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126480" y="5532120"/>
            <a:ext cx="53949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3C6"/>
            </a:solidFill>
            <a:prstDash val="solid"/>
          </a:ln>
          <a:effectLst>
            <a:outerShdw sx="100000" sy="100000" kx="0" ky="0" algn="bl" rotWithShape="0" blurRad="101600" dist="25400" dir="5400000">
              <a:srgbClr val="1B2A4A">
                <a:alpha val="1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309360" y="55321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A66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screenshots/ · pr/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555480" y="553212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F5A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gambar dan catatan PR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4864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Terima kasih · Muhamad Fauzian S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8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57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3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1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391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47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548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626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704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783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861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939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017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096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1174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1252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133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1409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1487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56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1643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722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 Merchant Hunter - Presentasi Manajemen</dc:title>
  <dc:subject>PptxGenJS Presentation</dc:subject>
  <dc:creator>Muhamad Fauzian S</dc:creator>
  <cp:lastModifiedBy>Muhamad Fauzian S</cp:lastModifiedBy>
  <cp:revision>1</cp:revision>
  <dcterms:created xsi:type="dcterms:W3CDTF">2026-10-27T15:15:39Z</dcterms:created>
  <dcterms:modified xsi:type="dcterms:W3CDTF">2026-10-27T15:15:39Z</dcterms:modified>
</cp:coreProperties>
</file>